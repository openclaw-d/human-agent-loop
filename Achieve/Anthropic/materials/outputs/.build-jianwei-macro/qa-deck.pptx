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fb690fb214266" /><Relationship Type="http://schemas.openxmlformats.org/officeDocument/2006/relationships/extended-properties" Target="/docProps/app.xml" Id="Rc112cdeb33254339" /><Relationship Type="http://schemas.openxmlformats.org/officeDocument/2006/relationships/officeDocument" Target="/ppt/presentation.xml" Id="Rb69b73dbb5f6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e023854e144e44"/>
  </p:sldMasterIdLst>
  <p:notesMasterIdLst>
    <p:notesMasterId xmlns:r="http://schemas.openxmlformats.org/officeDocument/2006/relationships" r:id="R82bdf5b34e4544f8"/>
  </p:notesMasterIdLst>
  <p:sldIdLst>
    <p:sldId xmlns:r="http://schemas.openxmlformats.org/officeDocument/2006/relationships" id="256" r:id="R8f3b038829e643a9"/>
    <p:sldId xmlns:r="http://schemas.openxmlformats.org/officeDocument/2006/relationships" id="257" r:id="Rc404c11d4fa0432e"/>
    <p:sldId xmlns:r="http://schemas.openxmlformats.org/officeDocument/2006/relationships" id="258" r:id="Rb75fcfefe1c54acc"/>
    <p:sldId xmlns:r="http://schemas.openxmlformats.org/officeDocument/2006/relationships" id="259" r:id="R30e85ee7d2484729"/>
    <p:sldId xmlns:r="http://schemas.openxmlformats.org/officeDocument/2006/relationships" id="260" r:id="Rd6ba012afbbb4f7e"/>
    <p:sldId xmlns:r="http://schemas.openxmlformats.org/officeDocument/2006/relationships" id="261" r:id="R3f4f487ed3f74afe"/>
    <p:sldId xmlns:r="http://schemas.openxmlformats.org/officeDocument/2006/relationships" id="262" r:id="Rad134c1f26594b2b"/>
    <p:sldId xmlns:r="http://schemas.openxmlformats.org/officeDocument/2006/relationships" id="263" r:id="R16c09bd8c4e04f80"/>
    <p:sldId xmlns:r="http://schemas.openxmlformats.org/officeDocument/2006/relationships" id="264" r:id="Re63e3cc391bb4ada"/>
    <p:sldId xmlns:r="http://schemas.openxmlformats.org/officeDocument/2006/relationships" id="265" r:id="R796a8a07a7474437"/>
    <p:sldId xmlns:r="http://schemas.openxmlformats.org/officeDocument/2006/relationships" id="266" r:id="R4a179c485d054583"/>
    <p:sldId xmlns:r="http://schemas.openxmlformats.org/officeDocument/2006/relationships" id="267" r:id="R2166f3864e004643"/>
    <p:sldId xmlns:r="http://schemas.openxmlformats.org/officeDocument/2006/relationships" id="268" r:id="R72bb587674c84a3e"/>
    <p:sldId xmlns:r="http://schemas.openxmlformats.org/officeDocument/2006/relationships" id="269" r:id="Rb8f96e2aea1147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ad01844e84ef1" /><Relationship Type="http://schemas.openxmlformats.org/officeDocument/2006/relationships/slideMaster" Target="/ppt/slideMasters/slideMaster1.xml" Id="R47e023854e144e44" /><Relationship Type="http://schemas.openxmlformats.org/officeDocument/2006/relationships/notesMaster" Target="/ppt/notesMasters/notesMaster1.xml" Id="R82bdf5b34e4544f8" /><Relationship Type="http://schemas.openxmlformats.org/officeDocument/2006/relationships/presProps" Target="/ppt/presProps.xml" Id="R456d53e9347f4591" /><Relationship Type="http://schemas.openxmlformats.org/officeDocument/2006/relationships/tableStyles" Target="/ppt/tableStyles.xml" Id="R143660a6c42d496b" /><Relationship Type="http://schemas.openxmlformats.org/officeDocument/2006/relationships/slide" Target="/ppt/slides/slide1.xml" Id="R8f3b038829e643a9" /><Relationship Type="http://schemas.openxmlformats.org/officeDocument/2006/relationships/slide" Target="/ppt/slides/slide2.xml" Id="Rc404c11d4fa0432e" /><Relationship Type="http://schemas.openxmlformats.org/officeDocument/2006/relationships/slide" Target="/ppt/slides/slide3.xml" Id="Rb75fcfefe1c54acc" /><Relationship Type="http://schemas.openxmlformats.org/officeDocument/2006/relationships/slide" Target="/ppt/slides/slide4.xml" Id="R30e85ee7d2484729" /><Relationship Type="http://schemas.openxmlformats.org/officeDocument/2006/relationships/slide" Target="/ppt/slides/slide5.xml" Id="Rd6ba012afbbb4f7e" /><Relationship Type="http://schemas.openxmlformats.org/officeDocument/2006/relationships/slide" Target="/ppt/slides/slide6.xml" Id="R3f4f487ed3f74afe" /><Relationship Type="http://schemas.openxmlformats.org/officeDocument/2006/relationships/slide" Target="/ppt/slides/slide7.xml" Id="Rad134c1f26594b2b" /><Relationship Type="http://schemas.openxmlformats.org/officeDocument/2006/relationships/slide" Target="/ppt/slides/slide8.xml" Id="R16c09bd8c4e04f80" /><Relationship Type="http://schemas.openxmlformats.org/officeDocument/2006/relationships/slide" Target="/ppt/slides/slide9.xml" Id="Re63e3cc391bb4ada" /><Relationship Type="http://schemas.openxmlformats.org/officeDocument/2006/relationships/slide" Target="/ppt/slides/slide10.xml" Id="R796a8a07a7474437" /><Relationship Type="http://schemas.openxmlformats.org/officeDocument/2006/relationships/slide" Target="/ppt/slides/slide11.xml" Id="R4a179c485d054583" /><Relationship Type="http://schemas.openxmlformats.org/officeDocument/2006/relationships/slide" Target="/ppt/slides/slide12.xml" Id="R2166f3864e004643" /><Relationship Type="http://schemas.openxmlformats.org/officeDocument/2006/relationships/slide" Target="/ppt/slides/slide13.xml" Id="R72bb587674c84a3e" /><Relationship Type="http://schemas.openxmlformats.org/officeDocument/2006/relationships/slide" Target="/ppt/slides/slide14.xml" Id="Rb8f96e2aea1147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a688de48f4c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6dc3e6a0d43e6" /><Relationship Type="http://schemas.openxmlformats.org/officeDocument/2006/relationships/notesMaster" Target="/ppt/notesMasters/notesMaster1.xml" Id="R7130b666a56046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f86383b484df3" /><Relationship Type="http://schemas.openxmlformats.org/officeDocument/2006/relationships/notesMaster" Target="/ppt/notesMasters/notesMaster1.xml" Id="Ra27eb352b53f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02df7d3f1470f" /><Relationship Type="http://schemas.openxmlformats.org/officeDocument/2006/relationships/notesMaster" Target="/ppt/notesMasters/notesMaster1.xml" Id="Rb4e6fb8bd65e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70bac542c541e2" /><Relationship Type="http://schemas.openxmlformats.org/officeDocument/2006/relationships/notesMaster" Target="/ppt/notesMasters/notesMaster1.xml" Id="R3470e2b5cd2446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6363b1c38466a" /><Relationship Type="http://schemas.openxmlformats.org/officeDocument/2006/relationships/notesMaster" Target="/ppt/notesMasters/notesMaster1.xml" Id="R54fe2c7ad85e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4b88b4b734aed" /><Relationship Type="http://schemas.openxmlformats.org/officeDocument/2006/relationships/notesMaster" Target="/ppt/notesMasters/notesMaster1.xml" Id="Rff06f3fd24814a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4ad2c73ff74c57" /><Relationship Type="http://schemas.openxmlformats.org/officeDocument/2006/relationships/notesMaster" Target="/ppt/notesMasters/notesMaster1.xml" Id="R3fe9e073325441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3099883674412a" /><Relationship Type="http://schemas.openxmlformats.org/officeDocument/2006/relationships/notesMaster" Target="/ppt/notesMasters/notesMaster1.xml" Id="R56b91473593742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2af2e851c40e1" /><Relationship Type="http://schemas.openxmlformats.org/officeDocument/2006/relationships/notesMaster" Target="/ppt/notesMasters/notesMaster1.xml" Id="R9f13427411c640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3590496cf5401a" /><Relationship Type="http://schemas.openxmlformats.org/officeDocument/2006/relationships/notesMaster" Target="/ppt/notesMasters/notesMaster1.xml" Id="Rd999e56fa604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38a48a5ada4e11" /><Relationship Type="http://schemas.openxmlformats.org/officeDocument/2006/relationships/notesMaster" Target="/ppt/notesMasters/notesMaster1.xml" Id="R5ae2858f88d044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17936241c4eb2" /><Relationship Type="http://schemas.openxmlformats.org/officeDocument/2006/relationships/notesMaster" Target="/ppt/notesMasters/notesMaster1.xml" Id="R33a4e6220d4c4d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edd8248e0442f9" /><Relationship Type="http://schemas.openxmlformats.org/officeDocument/2006/relationships/notesMaster" Target="/ppt/notesMasters/notesMaster1.xml" Id="R8cd053c85c8b4c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85ac2e52134b3b" /><Relationship Type="http://schemas.openxmlformats.org/officeDocument/2006/relationships/notesMaster" Target="/ppt/notesMasters/notesMaster1.xml" Id="Ra2dc420b7454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开场只说明用途：这不是最终比赛 PPT，也不是功能宣讲，而是一次跨职能共同建模。今天要先回答见微到底是什么，以及从哪里开始最有学习价值。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强调这次重置的原因：过去把产品本体、页面入口、历史版本和比赛叙事放在一起讨论，导致词语相同、含义不同。旧内容保留，但不再自动支配当前方向。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先读候选定义，再用右侧三个“不是”限定边界。重点是见微连接人、组织与能力资产，但不替代专业权威，也不重做核心系统。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按顺序讲：左侧是人和组织，右侧是企业能力资产，中间只有一个真实 Case。见微位于下方，负责连接与治理；上方经营目标用于约束方向。系统部门和既有系统、智能部门和 Agent 必须明确区分。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三个循环不是三个系统。作业循环产生正式工作和信号；管理循环解释偏差和经营影响；演进循环改变规则、系统或智能能力。它们通过同一 Case 的 Evidence、状态、Receipt 与版本记录连接。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纯讨论不能暴露真实交互和数据问题；直接大开发又会把未知问题固化成昂贵实现。正确机制是固定 North Star，再用最小可观察实现循环学习。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活细胞不是页面，也不只是一个 Case。它至少具备四个能力：感知、判断、行动、学习。前三项完成一笔工作，第四项让问题进入受控版本改进，使下一笔 Case 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 P1 候选纸面运行，不是已实现流程。逐步讲七个动作：材料进入、事实核验、发现矛盾、形成补件或候选判断、信审人员确认、暴露系统问题、发布改进版本并复跑。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 不是简单复制信审页面，而是逐个领域确认三件事：什么 Evidence 才成立、谁拥有专业权威、系统和 AI 分别承担什么工作。跨域协同仍围绕同一 Case。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 才加入商机和业务，形成小微融资租赁运行体系。只有当单 Case 跨专业流转稳定后，多 Case 才有资格成为管理对象；否则管理看到的只是页面状态，不是真实经营状态。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这是一条风险递增的接入阶梯。每一级都需要新的证据和 Gate，不能从本地 synthetic 直接跳到生产写入。P4 的目标是受控试点，不是企业全面上线。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这页给出当前分期候选。P0 只建立认知地图、边界、未知问题和第一试验；P1 证明信审活细胞；之后依次扩领域、业务与多 Case、真实试点、企业级运营。P0 Gate 必须在 P1 开发授权前明确。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不要给复用百分比。当前只做三类判断：高概率可继承但必须重新验收；需要重构或重新定义；暂时历史隔离。代码、页面和设计只有通过新 authority 下的验收，才进入未来阶段。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结束时不要把路线图说成已经批准。先确认左侧四项共同认识，再请同事围绕右侧四个问题给出专业判断。最终目标是形成 P0 研究任务、责任人和 Gate，而不是直接进入大开发。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Authority reset task package from V3-Refresh-Control, 2026-08-31.</a:t>
            </a:r>
          </a:p>
          <a:p xmlns:a="http://schemas.openxmlformats.org/drawingml/2006/main">
            <a:r>
              <a:t>- Internal: C:\Users\22673\.codex\visualizations\2026\08\30\01a052dc-9164-7a42-b08f-7d700dea6bf6\jianwei-macro-atlas.html,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97c04873f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d3a748dbc044e6" /><Relationship Type="http://schemas.openxmlformats.org/officeDocument/2006/relationships/slideLayout" Target="/ppt/slideLayouts/slideLayout1.xml" Id="R8c9a78f258be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a78f258be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dff866d5c4d6b" /><Relationship Type="http://schemas.openxmlformats.org/officeDocument/2006/relationships/notesSlide" Target="/ppt/notesSlides/notesSlide1.xml" Id="Rbd99a2cae49649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d5120c1424fbd" /><Relationship Type="http://schemas.openxmlformats.org/officeDocument/2006/relationships/notesSlide" Target="/ppt/notesSlides/notesSlide2.xml" Id="Rec0f880d3ef4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47d3424ca4adb" /><Relationship Type="http://schemas.openxmlformats.org/officeDocument/2006/relationships/notesSlide" Target="/ppt/notesSlides/notesSlide3.xml" Id="Rc7a1372ce0b5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3b4c2a50f4304" /><Relationship Type="http://schemas.openxmlformats.org/officeDocument/2006/relationships/notesSlide" Target="/ppt/notesSlides/notesSlide4.xml" Id="Rc1b8378b842946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0fc4bc18c4c4e" /><Relationship Type="http://schemas.openxmlformats.org/officeDocument/2006/relationships/notesSlide" Target="/ppt/notesSlides/notesSlide5.xml" Id="Re02d3d03041841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b9483bc646a1" /><Relationship Type="http://schemas.openxmlformats.org/officeDocument/2006/relationships/notesSlide" Target="/ppt/notesSlides/notesSlide6.xml" Id="Rfdd44ff7af62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8e86d9350472d" /><Relationship Type="http://schemas.openxmlformats.org/officeDocument/2006/relationships/notesSlide" Target="/ppt/notesSlides/notesSlide7.xml" Id="Rc665ae47b5ab4b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31c73ee44050" /><Relationship Type="http://schemas.openxmlformats.org/officeDocument/2006/relationships/notesSlide" Target="/ppt/notesSlides/notesSlide8.xml" Id="R9535f05a33814f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6398bc7e046d5" /><Relationship Type="http://schemas.openxmlformats.org/officeDocument/2006/relationships/notesSlide" Target="/ppt/notesSlides/notesSlide9.xml" Id="Rec9ad7309e2040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dae893683462b" /><Relationship Type="http://schemas.openxmlformats.org/officeDocument/2006/relationships/notesSlide" Target="/ppt/notesSlides/notesSlide10.xml" Id="R577ff3aec94f48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d30057bf54562" /><Relationship Type="http://schemas.openxmlformats.org/officeDocument/2006/relationships/notesSlide" Target="/ppt/notesSlides/notesSlide11.xml" Id="R7f384aaac00b45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bcd70c7ea443b" /><Relationship Type="http://schemas.openxmlformats.org/officeDocument/2006/relationships/notesSlide" Target="/ppt/notesSlides/notesSlide12.xml" Id="R32b49ce6c13d4f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d9400baa94067" /><Relationship Type="http://schemas.openxmlformats.org/officeDocument/2006/relationships/notesSlide" Target="/ppt/notesSlides/notesSlide13.xml" Id="R86b81073f11b4f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0e2d3ec2141c6" /><Relationship Type="http://schemas.openxmlformats.org/officeDocument/2006/relationships/notesSlide" Target="/ppt/notesSlides/notesSlide14.xml" Id="Ra989e6949243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179E7D93-B944-4EC6-84DB-93B3CD4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E7EB"/>
                </a:solidFill>
                <a:latin typeface="Microsoft YaHei"/>
                <a:ea typeface="Microsoft YaHei"/>
                <a:cs typeface="Microsoft YaHei"/>
              </a:defRPr>
            </a:pPr>
            <a:r>
              <a:t>内部讨论稿 · 2026.08.31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2A77C98-20BF-4B35-A5BB-D8C20ED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
与分期工程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655806B-E713-42D9-B84E-1C1C65D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7DA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先建立共同认知，再决定如何研究、分期与落地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2115F0E5-D633-41BE-8536-1332F36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043"/>
          </a:solidFill>
          <a:ln xmlns:a="http://schemas.openxmlformats.org/drawingml/2006/main" w="0">
            <a:solidFill>
              <a:srgbClr val="A98043"/>
            </a:solidFill>
            <a:prstDash val="solid"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CC79231-48BF-4AC9-B363-1D15CD3B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当前产品战略与工程路径讨论稿</a:t>
            </a:r>
          </a:p>
        </p:txBody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7394C691-FC2E-41BB-8D3B-AEF0F38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A"/>
          </a:solidFill>
          <a:ln xmlns:a="http://schemas.openxmlformats.org/drawingml/2006/main" w="0">
            <a:solidFill>
              <a:srgbClr val="40515A"/>
            </a:solidFill>
            <a:prstDash val="solid"/>
          </a:ln>
        </p:spPr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CBA9C992-E24D-427D-BBF6-A0939ED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D00A06D-DB9B-48A7-8E18-05D2984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102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CASE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9DB8E0F-3B12-4237-80DC-A81D6E70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811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人和组织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F14EA57-2A2F-4F4D-B420-43A4361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企业能力资产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68AD4517-563E-4A70-9B05-4D7F1F08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098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连接与治理</a:t>
            </a:r>
          </a:p>
        </p:txBody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A74A8EAD-9592-4D62-9A46-907A1CB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A"/>
          </a:solidFill>
          <a:ln xmlns:a="http://schemas.openxmlformats.org/drawingml/2006/main" w="0">
            <a:solidFill>
              <a:srgbClr val="40515A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7F2BEB20-C1AB-4E81-AF74-3FA29C3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DE7EB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7F407553-9383-40DA-B191-A470251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814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DE7EB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F449DAD-0668-4D1D-9AEE-A3B1AF1F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291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EE3D1"/>
                </a:solidFill>
                <a:latin typeface="Microsoft YaHei"/>
                <a:ea typeface="Microsoft YaHei"/>
                <a:cs typeface="Microsoft YaHei"/>
              </a:defRPr>
            </a:pPr>
            <a:r>
              <a:t>演进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50D38BF-0409-4A0E-AE2D-1ACB5FA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815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7">
            <a:extLst xmlns:a="http://schemas.openxmlformats.org/drawingml/2006/main">
              <a:ext uri="{FF2B5EF4-FFF2-40B4-BE49-F238E27FC236}">
                <a16:creationId xmlns:a16="http://schemas.microsoft.com/office/drawing/2014/main" id="{56D0212B-3E2D-4CB0-AF16-5513236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01｜AUTHORITY RESET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D55D1B24-6655-4632-9051-73235844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我们缺的不是更多页面，而是同一个抽象层</a:t>
            </a:r>
          </a:p>
        </p:txBody>
      </p:sp>
      <p:sp>
        <p:nvSpPr>
          <p:cNvPr id="3" name="shape-19">
            <a:extLst xmlns:a="http://schemas.openxmlformats.org/drawingml/2006/main">
              <a:ext uri="{FF2B5EF4-FFF2-40B4-BE49-F238E27FC236}">
                <a16:creationId xmlns:a16="http://schemas.microsoft.com/office/drawing/2014/main" id="{39433277-A00A-4AE1-B060-BD579F1E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3D7EFF1F-BBEA-4599-8DFF-98F4302E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374574F-FBAD-4FE8-BB63-22C1BAE9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E147E564-6B81-4E33-8BCF-8CBFBFE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过去混在一起</a:t>
            </a:r>
          </a:p>
        </p:txBody>
      </p:sp>
      <p:sp>
        <p:nvSpPr>
          <p:cNvPr id="7" name="shape-23">
            <a:extLst xmlns:a="http://schemas.openxmlformats.org/drawingml/2006/main">
              <a:ext uri="{FF2B5EF4-FFF2-40B4-BE49-F238E27FC236}">
                <a16:creationId xmlns:a16="http://schemas.microsoft.com/office/drawing/2014/main" id="{66F8BBCA-396E-4B3A-B66E-F5DB1A9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DFDB"/>
          </a:solidFill>
          <a:ln xmlns:a="http://schemas.openxmlformats.org/drawingml/2006/main" w="9525">
            <a:solidFill>
              <a:srgbClr val="EADFDB"/>
            </a:solidFill>
            <a:prstDash val="solid"/>
          </a:ln>
        </p:spPr>
      </p:sp>
      <p:sp>
        <p:nvSpPr>
          <p:cNvPr id="8" name="text-24">
            <a:extLst xmlns:a="http://schemas.openxmlformats.org/drawingml/2006/main">
              <a:ext uri="{FF2B5EF4-FFF2-40B4-BE49-F238E27FC236}">
                <a16:creationId xmlns:a16="http://schemas.microsoft.com/office/drawing/2014/main" id="{966635B4-6A02-4BC8-A97D-42716D81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847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产品本体</a:t>
            </a:r>
          </a:p>
        </p:txBody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AFA83209-A4AC-4949-9C82-B2100CB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847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企业真正要建设的能力</a:t>
            </a:r>
          </a:p>
        </p:txBody>
      </p:sp>
      <p:sp>
        <p:nvSpPr>
          <p:cNvPr id="10" name="shape-26">
            <a:extLst xmlns:a="http://schemas.openxmlformats.org/drawingml/2006/main">
              <a:ext uri="{FF2B5EF4-FFF2-40B4-BE49-F238E27FC236}">
                <a16:creationId xmlns:a16="http://schemas.microsoft.com/office/drawing/2014/main" id="{32FC5883-3E50-40D6-B9C7-0FDF8973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FE8C1159-0C44-4713-94D9-466A5F8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847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页面入口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2D752C33-4852-4AD6-A046-B7C59FA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847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用户从哪里进入</a:t>
            </a:r>
          </a:p>
        </p:txBody>
      </p:sp>
      <p:sp>
        <p:nvSpPr>
          <p:cNvPr id="13" name="shape-29">
            <a:extLst xmlns:a="http://schemas.openxmlformats.org/drawingml/2006/main">
              <a:ext uri="{FF2B5EF4-FFF2-40B4-BE49-F238E27FC236}">
                <a16:creationId xmlns:a16="http://schemas.microsoft.com/office/drawing/2014/main" id="{C8026016-0E6F-46C8-AC2D-0CA5391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0FAD9E36-3108-4F17-B46E-E0EA7CC6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847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历史版本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94605520-41C1-4DF6-B488-22025F5A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847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V2 / 旧 V3 / 候选结构</a:t>
            </a:r>
          </a:p>
        </p:txBody>
      </p:sp>
      <p:sp>
        <p:nvSpPr>
          <p:cNvPr id="16" name="shape-32">
            <a:extLst xmlns:a="http://schemas.openxmlformats.org/drawingml/2006/main">
              <a:ext uri="{FF2B5EF4-FFF2-40B4-BE49-F238E27FC236}">
                <a16:creationId xmlns:a16="http://schemas.microsoft.com/office/drawing/2014/main" id="{5967CFF9-CC32-4CB3-859B-635D52F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3017E9BC-2437-4785-9758-A9CA9E9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847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比赛叙事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C5287818-6D0C-4E6A-95E8-3CCF5FB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847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如何在十分钟内表达</a:t>
            </a:r>
          </a:p>
        </p:txBody>
      </p:sp>
      <p:sp>
        <p:nvSpPr>
          <p:cNvPr id="19" name="shape-35">
            <a:extLst xmlns:a="http://schemas.openxmlformats.org/drawingml/2006/main">
              <a:ext uri="{FF2B5EF4-FFF2-40B4-BE49-F238E27FC236}">
                <a16:creationId xmlns:a16="http://schemas.microsoft.com/office/drawing/2014/main" id="{A03A0515-AA5B-496B-A56F-CB100AA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8191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20" name="text-36">
            <a:extLst xmlns:a="http://schemas.openxmlformats.org/drawingml/2006/main">
              <a:ext uri="{FF2B5EF4-FFF2-40B4-BE49-F238E27FC236}">
                <a16:creationId xmlns:a16="http://schemas.microsoft.com/office/drawing/2014/main" id="{D2BD3E22-AD26-4120-9223-8DE39DE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478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重新建立当前 authority</a:t>
            </a:r>
          </a:p>
        </p:txBody>
      </p:sp>
      <p:sp>
        <p:nvSpPr>
          <p:cNvPr id="21" name="text-37">
            <a:extLst xmlns:a="http://schemas.openxmlformats.org/drawingml/2006/main">
              <a:ext uri="{FF2B5EF4-FFF2-40B4-BE49-F238E27FC236}">
                <a16:creationId xmlns:a16="http://schemas.microsoft.com/office/drawing/2014/main" id="{688B83A3-942D-40EF-8276-BFC33005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9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22" name="text-38">
            <a:extLst xmlns:a="http://schemas.openxmlformats.org/drawingml/2006/main">
              <a:ext uri="{FF2B5EF4-FFF2-40B4-BE49-F238E27FC236}">
                <a16:creationId xmlns:a16="http://schemas.microsoft.com/office/drawing/2014/main" id="{03AD77B4-90F5-4E66-859A-D1B0A693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先定义企业能力与权威边界</a:t>
            </a:r>
          </a:p>
        </p:txBody>
      </p:sp>
      <p:sp>
        <p:nvSpPr>
          <p:cNvPr id="23" name="text-39">
            <a:extLst xmlns:a="http://schemas.openxmlformats.org/drawingml/2006/main">
              <a:ext uri="{FF2B5EF4-FFF2-40B4-BE49-F238E27FC236}">
                <a16:creationId xmlns:a16="http://schemas.microsoft.com/office/drawing/2014/main" id="{CBCAAE32-3841-4A15-8122-DC67662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49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24" name="text-40">
            <a:extLst xmlns:a="http://schemas.openxmlformats.org/drawingml/2006/main">
              <a:ext uri="{FF2B5EF4-FFF2-40B4-BE49-F238E27FC236}">
                <a16:creationId xmlns:a16="http://schemas.microsoft.com/office/drawing/2014/main" id="{B958C5B6-6104-4BD3-80C3-400A52D9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354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再选择最小可观察试验</a:t>
            </a:r>
          </a:p>
        </p:txBody>
      </p:sp>
      <p:sp>
        <p:nvSpPr>
          <p:cNvPr id="25" name="text-41">
            <a:extLst xmlns:a="http://schemas.openxmlformats.org/drawingml/2006/main">
              <a:ext uri="{FF2B5EF4-FFF2-40B4-BE49-F238E27FC236}">
                <a16:creationId xmlns:a16="http://schemas.microsoft.com/office/drawing/2014/main" id="{90D8B042-4B58-4907-A2CE-D789AFE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9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6" name="text-42">
            <a:extLst xmlns:a="http://schemas.openxmlformats.org/drawingml/2006/main">
              <a:ext uri="{FF2B5EF4-FFF2-40B4-BE49-F238E27FC236}">
                <a16:creationId xmlns:a16="http://schemas.microsoft.com/office/drawing/2014/main" id="{931E4503-7822-431A-A980-4B2FC322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旧方案只作为 Historical Reference</a:t>
            </a:r>
          </a:p>
        </p:txBody>
      </p:sp>
      <p:sp>
        <p:nvSpPr>
          <p:cNvPr id="27" name="shape-43">
            <a:extLst xmlns:a="http://schemas.openxmlformats.org/drawingml/2006/main">
              <a:ext uri="{FF2B5EF4-FFF2-40B4-BE49-F238E27FC236}">
                <a16:creationId xmlns:a16="http://schemas.microsoft.com/office/drawing/2014/main" id="{DD2C8BC9-9BF6-4263-B59F-3A3B253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4286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8" name="text-44">
            <a:extLst xmlns:a="http://schemas.openxmlformats.org/drawingml/2006/main">
              <a:ext uri="{FF2B5EF4-FFF2-40B4-BE49-F238E27FC236}">
                <a16:creationId xmlns:a16="http://schemas.microsoft.com/office/drawing/2014/main" id="{92841D19-877D-4E14-967B-9426D9B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3790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重置不是推倒重来，而是停止让历史冻结当前思考。</a:t>
            </a:r>
          </a:p>
        </p:txBody>
      </p:sp>
    </p:spTree>
    <p:extLst>
      <p:ext uri="{BB962C8B-B14F-4D97-AF65-F5344CB8AC3E}">
        <p14:creationId xmlns:p14="http://schemas.microsoft.com/office/powerpoint/2010/main" val="2099081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B468D96D-2146-422F-AB73-F0C6B1E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02｜PRODUCT NORTH STAR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BB1E27E3-77E8-40B6-A10F-9724135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见微是一套企业人机协同运行体系</a:t>
            </a:r>
          </a:p>
        </p:txBody>
      </p:sp>
      <p:sp>
        <p:nvSpPr>
          <p:cNvPr id="3" name="shape-47">
            <a:extLst xmlns:a="http://schemas.openxmlformats.org/drawingml/2006/main">
              <a:ext uri="{FF2B5EF4-FFF2-40B4-BE49-F238E27FC236}">
                <a16:creationId xmlns:a16="http://schemas.microsoft.com/office/drawing/2014/main" id="{26DC838D-C69F-4024-9F6B-C217A89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0F59A131-8FE9-4FBC-AFB0-1B8D0C19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8568B198-2A4D-4D24-83F3-3111CAFA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6" name="shape-50">
            <a:extLst xmlns:a="http://schemas.openxmlformats.org/drawingml/2006/main">
              <a:ext uri="{FF2B5EF4-FFF2-40B4-BE49-F238E27FC236}">
                <a16:creationId xmlns:a16="http://schemas.microsoft.com/office/drawing/2014/main" id="{3B8A1D96-2F95-4302-B206-37C6E1A3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571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B"/>
          </a:solidFill>
          <a:ln xmlns:a="http://schemas.openxmlformats.org/drawingml/2006/main" w="0">
            <a:solidFill>
              <a:srgbClr val="DDE7EB"/>
            </a:solidFill>
            <a:prstDash val="solid"/>
          </a:ln>
        </p:spPr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30094A58-88E6-4701-A85E-C677B59C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638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以真实业务事项为中心，把业务与专业人员、管理人员、系统部门、智能部门、既有系统和智能能力连接起来，使企业能够持续作业、管理和演进。</a:t>
            </a:r>
          </a:p>
        </p:txBody>
      </p:sp>
      <p:sp>
        <p:nvSpPr>
          <p:cNvPr id="8" name="shape-52">
            <a:extLst xmlns:a="http://schemas.openxmlformats.org/drawingml/2006/main">
              <a:ext uri="{FF2B5EF4-FFF2-40B4-BE49-F238E27FC236}">
                <a16:creationId xmlns:a16="http://schemas.microsoft.com/office/drawing/2014/main" id="{24E78DE5-C4D4-4B74-9CC4-1410C13C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4468F24B-F9B2-49D4-A4D4-8CE95E6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619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共同锚点：真实业务事项 / Case</a:t>
            </a:r>
          </a:p>
        </p:txBody>
      </p: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9A1F152A-F219-45A8-9852-7F9DF531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它不是什么</a:t>
            </a:r>
          </a:p>
        </p:txBody>
      </p:sp>
      <p:sp>
        <p:nvSpPr>
          <p:cNvPr id="11" name="shape-55">
            <a:extLst xmlns:a="http://schemas.openxmlformats.org/drawingml/2006/main">
              <a:ext uri="{FF2B5EF4-FFF2-40B4-BE49-F238E27FC236}">
                <a16:creationId xmlns:a16="http://schemas.microsoft.com/office/drawing/2014/main" id="{2E9FDDA6-5ED4-4DA4-A4CB-76F96069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D1CC4AB1-171D-4187-9511-AC56DA4B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不是新的核心业务系统</a:t>
            </a:r>
          </a:p>
        </p:txBody>
      </p:sp>
      <p:sp>
        <p:nvSpPr>
          <p:cNvPr id="13" name="text-57">
            <a:extLst xmlns:a="http://schemas.openxmlformats.org/drawingml/2006/main">
              <a:ext uri="{FF2B5EF4-FFF2-40B4-BE49-F238E27FC236}">
                <a16:creationId xmlns:a16="http://schemas.microsoft.com/office/drawing/2014/main" id="{EC068E7A-173C-437D-A4A8-9FE68A2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保留既有系统的事实与正式记录</a:t>
            </a:r>
          </a:p>
        </p:txBody>
      </p:sp>
      <p:sp>
        <p:nvSpPr>
          <p:cNvPr id="14" name="shape-58">
            <a:extLst xmlns:a="http://schemas.openxmlformats.org/drawingml/2006/main">
              <a:ext uri="{FF2B5EF4-FFF2-40B4-BE49-F238E27FC236}">
                <a16:creationId xmlns:a16="http://schemas.microsoft.com/office/drawing/2014/main" id="{9EA40727-80C3-4E4D-9018-E55D946A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5" name="text-59">
            <a:extLst xmlns:a="http://schemas.openxmlformats.org/drawingml/2006/main">
              <a:ext uri="{FF2B5EF4-FFF2-40B4-BE49-F238E27FC236}">
                <a16:creationId xmlns:a16="http://schemas.microsoft.com/office/drawing/2014/main" id="{5956171A-8525-4539-91F2-45F9A54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 AI 自动审批</a:t>
            </a:r>
          </a:p>
        </p:txBody>
      </p:sp>
      <p:sp>
        <p:nvSpPr>
          <p:cNvPr id="16" name="text-60">
            <a:extLst xmlns:a="http://schemas.openxmlformats.org/drawingml/2006/main">
              <a:ext uri="{FF2B5EF4-FFF2-40B4-BE49-F238E27FC236}">
                <a16:creationId xmlns:a16="http://schemas.microsoft.com/office/drawing/2014/main" id="{6DE8F4C1-6B48-4B88-8FB2-EF5BB52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模型与 Agent 永远 authority=none</a:t>
            </a:r>
          </a:p>
        </p:txBody>
      </p:sp>
      <p:sp>
        <p:nvSpPr>
          <p:cNvPr id="17" name="shape-61">
            <a:extLst xmlns:a="http://schemas.openxmlformats.org/drawingml/2006/main">
              <a:ext uri="{FF2B5EF4-FFF2-40B4-BE49-F238E27FC236}">
                <a16:creationId xmlns:a16="http://schemas.microsoft.com/office/drawing/2014/main" id="{08B23C03-DD6C-4CEF-A449-53C0791E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8" name="text-62">
            <a:extLst xmlns:a="http://schemas.openxmlformats.org/drawingml/2006/main">
              <a:ext uri="{FF2B5EF4-FFF2-40B4-BE49-F238E27FC236}">
                <a16:creationId xmlns:a16="http://schemas.microsoft.com/office/drawing/2014/main" id="{E9AACC28-AC9A-43CC-A906-800DE38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62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不是固定页面集合</a:t>
            </a:r>
          </a:p>
        </p:txBody>
      </p:sp>
      <p:sp>
        <p:nvSpPr>
          <p:cNvPr id="19" name="text-63">
            <a:extLst xmlns:a="http://schemas.openxmlformats.org/drawingml/2006/main">
              <a:ext uri="{FF2B5EF4-FFF2-40B4-BE49-F238E27FC236}">
                <a16:creationId xmlns:a16="http://schemas.microsoft.com/office/drawing/2014/main" id="{1A93D924-AC5B-49E5-9A52-852A5EC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入口和 Projection 服务于 Case，不定义产品本体</a:t>
            </a:r>
          </a:p>
        </p:txBody>
      </p:sp>
      <p:sp>
        <p:nvSpPr>
          <p:cNvPr id="20" name="text-64">
            <a:extLst xmlns:a="http://schemas.openxmlformats.org/drawingml/2006/main">
              <a:ext uri="{FF2B5EF4-FFF2-40B4-BE49-F238E27FC236}">
                <a16:creationId xmlns:a16="http://schemas.microsoft.com/office/drawing/2014/main" id="{B5638070-683C-4E1F-908A-706F637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816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候选定义｜待跨职能共同校准</a:t>
            </a:r>
          </a:p>
        </p:txBody>
      </p:sp>
    </p:spTree>
    <p:extLst>
      <p:ext uri="{BB962C8B-B14F-4D97-AF65-F5344CB8AC3E}">
        <p14:creationId xmlns:p14="http://schemas.microsoft.com/office/powerpoint/2010/main" val="140706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65">
            <a:extLst xmlns:a="http://schemas.openxmlformats.org/drawingml/2006/main">
              <a:ext uri="{FF2B5EF4-FFF2-40B4-BE49-F238E27FC236}">
                <a16:creationId xmlns:a16="http://schemas.microsoft.com/office/drawing/2014/main" id="{91612405-A871-4BA5-9B0E-91539A6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03｜OVERALL SYSTEM</a:t>
            </a:r>
          </a:p>
        </p:txBody>
      </p:sp>
      <p:sp>
        <p:nvSpPr>
          <p:cNvPr id="2" name="text-66">
            <a:extLst xmlns:a="http://schemas.openxmlformats.org/drawingml/2006/main">
              <a:ext uri="{FF2B5EF4-FFF2-40B4-BE49-F238E27FC236}">
                <a16:creationId xmlns:a16="http://schemas.microsoft.com/office/drawing/2014/main" id="{7BF12885-E2CF-4C49-B123-01579E60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所有参与者与能力，围绕同一个 Case 工作</a:t>
            </a:r>
          </a:p>
        </p:txBody>
      </p:sp>
      <p:sp>
        <p:nvSpPr>
          <p:cNvPr id="3" name="shape-67">
            <a:extLst xmlns:a="http://schemas.openxmlformats.org/drawingml/2006/main">
              <a:ext uri="{FF2B5EF4-FFF2-40B4-BE49-F238E27FC236}">
                <a16:creationId xmlns:a16="http://schemas.microsoft.com/office/drawing/2014/main" id="{470A1FEB-E25C-4AA7-85E0-5F2F2517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2CF09A9E-4E2E-4B0A-BDD7-1501AC1B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69">
            <a:extLst xmlns:a="http://schemas.openxmlformats.org/drawingml/2006/main">
              <a:ext uri="{FF2B5EF4-FFF2-40B4-BE49-F238E27FC236}">
                <a16:creationId xmlns:a16="http://schemas.microsoft.com/office/drawing/2014/main" id="{76F54690-A534-4C9A-93FA-C747552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6" name="shape-70">
            <a:extLst xmlns:a="http://schemas.openxmlformats.org/drawingml/2006/main">
              <a:ext uri="{FF2B5EF4-FFF2-40B4-BE49-F238E27FC236}">
                <a16:creationId xmlns:a16="http://schemas.microsoft.com/office/drawing/2014/main" id="{6AA5D918-445A-4C9A-B93C-B764BC14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52550"/>
            <a:ext cx="685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876609AC-F99E-4B33-9160-C527018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38275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经营目标：增长 · 风险 · 效率 · 合规 · 持续演进</a:t>
            </a:r>
          </a:p>
        </p:txBody>
      </p:sp>
      <p:sp>
        <p:nvSpPr>
          <p:cNvPr id="8" name="shape-72">
            <a:extLst xmlns:a="http://schemas.openxmlformats.org/drawingml/2006/main">
              <a:ext uri="{FF2B5EF4-FFF2-40B4-BE49-F238E27FC236}">
                <a16:creationId xmlns:a16="http://schemas.microsoft.com/office/drawing/2014/main" id="{42E4A65B-776F-4D59-924F-7384AC5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510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9" name="shape-73">
            <a:extLst xmlns:a="http://schemas.openxmlformats.org/drawingml/2006/main">
              <a:ext uri="{FF2B5EF4-FFF2-40B4-BE49-F238E27FC236}">
                <a16:creationId xmlns:a16="http://schemas.microsoft.com/office/drawing/2014/main" id="{F8075D24-A9EF-4BB8-82BC-9B70DFB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97393338-FB9E-4334-94F9-9B5D8CA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人和组织</a:t>
            </a:r>
          </a:p>
        </p:txBody>
      </p:sp>
      <p:sp>
        <p:nvSpPr>
          <p:cNvPr id="11" name="shape-75">
            <a:extLst xmlns:a="http://schemas.openxmlformats.org/drawingml/2006/main">
              <a:ext uri="{FF2B5EF4-FFF2-40B4-BE49-F238E27FC236}">
                <a16:creationId xmlns:a16="http://schemas.microsoft.com/office/drawing/2014/main" id="{73B483BF-D10F-42E1-AE58-655B67D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628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3C272578-5D3A-4355-AB6C-E84737F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经营与专业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ABB73D82-B8FB-44DF-A11A-010BF53B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209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商机、业务、政策、信审、
商务、资产、管理者、
外部参与者</a:t>
            </a:r>
          </a:p>
        </p:txBody>
      </p:sp>
      <p:sp>
        <p:nvSpPr>
          <p:cNvPr id="14" name="shape-78">
            <a:extLst xmlns:a="http://schemas.openxmlformats.org/drawingml/2006/main">
              <a:ext uri="{FF2B5EF4-FFF2-40B4-BE49-F238E27FC236}">
                <a16:creationId xmlns:a16="http://schemas.microsoft.com/office/drawing/2014/main" id="{2BB9FE95-2B0A-4A64-8AEB-0771750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628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5" name="text-79">
            <a:extLst xmlns:a="http://schemas.openxmlformats.org/drawingml/2006/main">
              <a:ext uri="{FF2B5EF4-FFF2-40B4-BE49-F238E27FC236}">
                <a16:creationId xmlns:a16="http://schemas.microsoft.com/office/drawing/2014/main" id="{70AD06A1-5583-4B50-8085-D915B7F1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建设与维护</a:t>
            </a:r>
          </a:p>
        </p:txBody>
      </p:sp>
      <p:sp>
        <p:nvSpPr>
          <p:cNvPr id="16" name="text-80">
            <a:extLst xmlns:a="http://schemas.openxmlformats.org/drawingml/2006/main">
              <a:ext uri="{FF2B5EF4-FFF2-40B4-BE49-F238E27FC236}">
                <a16:creationId xmlns:a16="http://schemas.microsoft.com/office/drawing/2014/main" id="{483F90BF-8D1E-4A55-9AF9-F0692DD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209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系统部门负责 IT；
智能部门负责模型、
Agent 与 Harness</a:t>
            </a:r>
          </a:p>
        </p:txBody>
      </p:sp>
      <p:sp>
        <p:nvSpPr>
          <p:cNvPr id="17" name="text-81">
            <a:extLst xmlns:a="http://schemas.openxmlformats.org/drawingml/2006/main">
              <a:ext uri="{FF2B5EF4-FFF2-40B4-BE49-F238E27FC236}">
                <a16:creationId xmlns:a16="http://schemas.microsoft.com/office/drawing/2014/main" id="{2431139B-CA40-443D-B702-0BC65B2E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377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真实业务事项</a:t>
            </a:r>
          </a:p>
        </p:txBody>
      </p:sp>
      <p:sp>
        <p:nvSpPr>
          <p:cNvPr id="18" name="shape-82">
            <a:extLst xmlns:a="http://schemas.openxmlformats.org/drawingml/2006/main">
              <a:ext uri="{FF2B5EF4-FFF2-40B4-BE49-F238E27FC236}">
                <a16:creationId xmlns:a16="http://schemas.microsoft.com/office/drawing/2014/main" id="{46215DB4-CC1C-4586-AFB9-E1B5158D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6289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19" name="text-83">
            <a:extLst xmlns:a="http://schemas.openxmlformats.org/drawingml/2006/main">
              <a:ext uri="{FF2B5EF4-FFF2-40B4-BE49-F238E27FC236}">
                <a16:creationId xmlns:a16="http://schemas.microsoft.com/office/drawing/2014/main" id="{52067FA7-B8D3-4800-9DF6-391E5AB9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628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CASE</a:t>
            </a:r>
          </a:p>
        </p:txBody>
      </p:sp>
      <p:sp>
        <p:nvSpPr>
          <p:cNvPr id="20" name="text-84">
            <a:extLst xmlns:a="http://schemas.openxmlformats.org/drawingml/2006/main">
              <a:ext uri="{FF2B5EF4-FFF2-40B4-BE49-F238E27FC236}">
                <a16:creationId xmlns:a16="http://schemas.microsoft.com/office/drawing/2014/main" id="{8FC6752A-7F7D-4ED4-8B12-DFE2912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628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DE7E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同一事实 · 同一责任 · 同一接续</a:t>
            </a:r>
          </a:p>
        </p:txBody>
      </p:sp>
      <p:sp>
        <p:nvSpPr>
          <p:cNvPr id="21" name="text-85">
            <a:extLst xmlns:a="http://schemas.openxmlformats.org/drawingml/2006/main">
              <a:ext uri="{FF2B5EF4-FFF2-40B4-BE49-F238E27FC236}">
                <a16:creationId xmlns:a16="http://schemas.microsoft.com/office/drawing/2014/main" id="{B14957FB-B2EC-416F-9AB1-761E15F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企业能力资产</a:t>
            </a:r>
          </a:p>
        </p:txBody>
      </p:sp>
      <p:sp>
        <p:nvSpPr>
          <p:cNvPr id="22" name="shape-86">
            <a:extLst xmlns:a="http://schemas.openxmlformats.org/drawingml/2006/main">
              <a:ext uri="{FF2B5EF4-FFF2-40B4-BE49-F238E27FC236}">
                <a16:creationId xmlns:a16="http://schemas.microsoft.com/office/drawing/2014/main" id="{AAABE548-13D0-417C-AAA5-BF6E7C5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2628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3" name="text-87">
            <a:extLst xmlns:a="http://schemas.openxmlformats.org/drawingml/2006/main">
              <a:ext uri="{FF2B5EF4-FFF2-40B4-BE49-F238E27FC236}">
                <a16:creationId xmlns:a16="http://schemas.microsoft.com/office/drawing/2014/main" id="{A1CDBF55-116D-4D06-9021-8F14C05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系统能力</a:t>
            </a:r>
          </a:p>
        </p:txBody>
      </p:sp>
      <p:sp>
        <p:nvSpPr>
          <p:cNvPr id="24" name="text-88">
            <a:extLst xmlns:a="http://schemas.openxmlformats.org/drawingml/2006/main">
              <a:ext uri="{FF2B5EF4-FFF2-40B4-BE49-F238E27FC236}">
                <a16:creationId xmlns:a16="http://schemas.microsoft.com/office/drawing/2014/main" id="{494B1733-F984-412D-B535-CDEF9C08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2209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既有系统、数据、规则、
权限、API、Adapter</a:t>
            </a:r>
          </a:p>
        </p:txBody>
      </p:sp>
      <p:sp>
        <p:nvSpPr>
          <p:cNvPr id="25" name="shape-89">
            <a:extLst xmlns:a="http://schemas.openxmlformats.org/drawingml/2006/main">
              <a:ext uri="{FF2B5EF4-FFF2-40B4-BE49-F238E27FC236}">
                <a16:creationId xmlns:a16="http://schemas.microsoft.com/office/drawing/2014/main" id="{C381C03B-EF6F-4C10-880D-F07AD04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2628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6" name="text-90">
            <a:extLst xmlns:a="http://schemas.openxmlformats.org/drawingml/2006/main">
              <a:ext uri="{FF2B5EF4-FFF2-40B4-BE49-F238E27FC236}">
                <a16:creationId xmlns:a16="http://schemas.microsoft.com/office/drawing/2014/main" id="{955E0444-4404-4569-9C45-41C6D734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220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智能能力</a:t>
            </a:r>
          </a:p>
        </p:txBody>
      </p:sp>
      <p:sp>
        <p:nvSpPr>
          <p:cNvPr id="27" name="text-91">
            <a:extLst xmlns:a="http://schemas.openxmlformats.org/drawingml/2006/main">
              <a:ext uri="{FF2B5EF4-FFF2-40B4-BE49-F238E27FC236}">
                <a16:creationId xmlns:a16="http://schemas.microsoft.com/office/drawing/2014/main" id="{EB7E45A3-4A33-4426-80AA-D431EA88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91050"/>
            <a:ext cx="2209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模型、Agent、知识、
Harness、Evaluation、
监控与降级</a:t>
            </a:r>
          </a:p>
        </p:txBody>
      </p:sp>
      <p:sp>
        <p:nvSpPr>
          <p:cNvPr id="28" name="shape-92">
            <a:extLst xmlns:a="http://schemas.openxmlformats.org/drawingml/2006/main">
              <a:ext uri="{FF2B5EF4-FFF2-40B4-BE49-F238E27FC236}">
                <a16:creationId xmlns:a16="http://schemas.microsoft.com/office/drawing/2014/main" id="{7EFE0B58-5390-488A-9E43-537CDE6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76800"/>
            <a:ext cx="544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29" name="text-93">
            <a:extLst xmlns:a="http://schemas.openxmlformats.org/drawingml/2006/main">
              <a:ext uri="{FF2B5EF4-FFF2-40B4-BE49-F238E27FC236}">
                <a16:creationId xmlns:a16="http://schemas.microsoft.com/office/drawing/2014/main" id="{ACEB90AB-10B1-4833-A38A-C0200A0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491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见微连接与治理层</a:t>
            </a:r>
          </a:p>
        </p:txBody>
      </p:sp>
      <p:sp>
        <p:nvSpPr>
          <p:cNvPr id="30" name="text-94">
            <a:extLst xmlns:a="http://schemas.openxmlformats.org/drawingml/2006/main">
              <a:ext uri="{FF2B5EF4-FFF2-40B4-BE49-F238E27FC236}">
                <a16:creationId xmlns:a16="http://schemas.microsoft.com/office/drawing/2014/main" id="{D8E0FB3B-6077-4CD1-923D-77FB0AD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29250"/>
            <a:ext cx="491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Context · Evidence · 协同 · Gate · Receipt · Version · Audit</a:t>
            </a:r>
          </a:p>
        </p:txBody>
      </p:sp>
    </p:spTree>
    <p:extLst>
      <p:ext uri="{BB962C8B-B14F-4D97-AF65-F5344CB8AC3E}">
        <p14:creationId xmlns:p14="http://schemas.microsoft.com/office/powerpoint/2010/main" val="1613996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95">
            <a:extLst xmlns:a="http://schemas.openxmlformats.org/drawingml/2006/main">
              <a:ext uri="{FF2B5EF4-FFF2-40B4-BE49-F238E27FC236}">
                <a16:creationId xmlns:a16="http://schemas.microsoft.com/office/drawing/2014/main" id="{6B00A1D7-CD18-45C2-AEEC-7A9C1925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04｜MINIMUM COMPLETE MECHANISM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BB25D821-2C45-47C9-A5C6-0936BCA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三个循环分工不同，但共享同一业务事实</a:t>
            </a:r>
          </a:p>
        </p:txBody>
      </p:sp>
      <p:sp>
        <p:nvSpPr>
          <p:cNvPr id="3" name="shape-97">
            <a:extLst xmlns:a="http://schemas.openxmlformats.org/drawingml/2006/main">
              <a:ext uri="{FF2B5EF4-FFF2-40B4-BE49-F238E27FC236}">
                <a16:creationId xmlns:a16="http://schemas.microsoft.com/office/drawing/2014/main" id="{14EDA63B-3F05-4AA9-A767-AC52A183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98">
            <a:extLst xmlns:a="http://schemas.openxmlformats.org/drawingml/2006/main">
              <a:ext uri="{FF2B5EF4-FFF2-40B4-BE49-F238E27FC236}">
                <a16:creationId xmlns:a16="http://schemas.microsoft.com/office/drawing/2014/main" id="{D67FE80F-E248-4DC8-9938-9EA094C9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99">
            <a:extLst xmlns:a="http://schemas.openxmlformats.org/drawingml/2006/main">
              <a:ext uri="{FF2B5EF4-FFF2-40B4-BE49-F238E27FC236}">
                <a16:creationId xmlns:a16="http://schemas.microsoft.com/office/drawing/2014/main" id="{EDBFC2C0-EDF8-484F-B640-7E07E73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6" name="text-100">
            <a:extLst xmlns:a="http://schemas.openxmlformats.org/drawingml/2006/main">
              <a:ext uri="{FF2B5EF4-FFF2-40B4-BE49-F238E27FC236}">
                <a16:creationId xmlns:a16="http://schemas.microsoft.com/office/drawing/2014/main" id="{CDEB9C97-F304-41E8-99A4-D341A436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text-101">
            <a:extLst xmlns:a="http://schemas.openxmlformats.org/drawingml/2006/main">
              <a:ext uri="{FF2B5EF4-FFF2-40B4-BE49-F238E27FC236}">
                <a16:creationId xmlns:a16="http://schemas.microsoft.com/office/drawing/2014/main" id="{42E98CB9-50F4-4825-8502-0C68E96A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2400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作业循环</a:t>
            </a:r>
          </a:p>
        </p:txBody>
      </p:sp>
      <p:sp>
        <p:nvSpPr>
          <p:cNvPr id="8" name="shape-102">
            <a:extLst xmlns:a="http://schemas.openxmlformats.org/drawingml/2006/main">
              <a:ext uri="{FF2B5EF4-FFF2-40B4-BE49-F238E27FC236}">
                <a16:creationId xmlns:a16="http://schemas.microsoft.com/office/drawing/2014/main" id="{C70B5D77-38D7-445E-84B4-45DAAFE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9" name="text-103">
            <a:extLst xmlns:a="http://schemas.openxmlformats.org/drawingml/2006/main">
              <a:ext uri="{FF2B5EF4-FFF2-40B4-BE49-F238E27FC236}">
                <a16:creationId xmlns:a16="http://schemas.microsoft.com/office/drawing/2014/main" id="{52B90C79-16DE-48BF-A6BB-792031D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把事情做完</a:t>
            </a:r>
          </a:p>
        </p:txBody>
      </p:sp>
      <p:sp>
        <p:nvSpPr>
          <p:cNvPr id="10" name="shape-104">
            <a:extLst xmlns:a="http://schemas.openxmlformats.org/drawingml/2006/main">
              <a:ext uri="{FF2B5EF4-FFF2-40B4-BE49-F238E27FC236}">
                <a16:creationId xmlns:a16="http://schemas.microsoft.com/office/drawing/2014/main" id="{E2C9A0D6-BAD3-421D-9120-96E57E8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11" name="text-105">
            <a:extLst xmlns:a="http://schemas.openxmlformats.org/drawingml/2006/main">
              <a:ext uri="{FF2B5EF4-FFF2-40B4-BE49-F238E27FC236}">
                <a16:creationId xmlns:a16="http://schemas.microsoft.com/office/drawing/2014/main" id="{74234C31-495D-40C6-B728-B353661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667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员工围绕 Case 接收 Evidence、形成判断、完成 Human Gate 与正式动作。</a:t>
            </a:r>
          </a:p>
        </p:txBody>
      </p:sp>
      <p:sp>
        <p:nvSpPr>
          <p:cNvPr id="12" name="text-106">
            <a:extLst xmlns:a="http://schemas.openxmlformats.org/drawingml/2006/main">
              <a:ext uri="{FF2B5EF4-FFF2-40B4-BE49-F238E27FC236}">
                <a16:creationId xmlns:a16="http://schemas.microsoft.com/office/drawing/2014/main" id="{4A5F51DD-FE32-428B-BAB1-E076A97F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859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text-107">
            <a:extLst xmlns:a="http://schemas.openxmlformats.org/drawingml/2006/main">
              <a:ext uri="{FF2B5EF4-FFF2-40B4-BE49-F238E27FC236}">
                <a16:creationId xmlns:a16="http://schemas.microsoft.com/office/drawing/2014/main" id="{E02416D2-8CFA-48B6-81D3-3898512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2400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管理循环</a:t>
            </a:r>
          </a:p>
        </p:txBody>
      </p:sp>
      <p:sp>
        <p:nvSpPr>
          <p:cNvPr id="14" name="shape-108">
            <a:extLst xmlns:a="http://schemas.openxmlformats.org/drawingml/2006/main">
              <a:ext uri="{FF2B5EF4-FFF2-40B4-BE49-F238E27FC236}">
                <a16:creationId xmlns:a16="http://schemas.microsoft.com/office/drawing/2014/main" id="{381C4C40-16F9-4FF0-80E3-9B118F91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FE8E2"/>
          </a:solidFill>
          <a:ln xmlns:a="http://schemas.openxmlformats.org/drawingml/2006/main" w="9525">
            <a:solidFill>
              <a:srgbClr val="587364"/>
            </a:solidFill>
            <a:prstDash val="solid"/>
          </a:ln>
        </p:spPr>
      </p:sp>
      <p:sp>
        <p:nvSpPr>
          <p:cNvPr id="15" name="text-109">
            <a:extLst xmlns:a="http://schemas.openxmlformats.org/drawingml/2006/main">
              <a:ext uri="{FF2B5EF4-FFF2-40B4-BE49-F238E27FC236}">
                <a16:creationId xmlns:a16="http://schemas.microsoft.com/office/drawing/2014/main" id="{C1CECDB7-E4E3-429A-A654-76093A39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知道哪里失速</a:t>
            </a:r>
          </a:p>
        </p:txBody>
      </p:sp>
      <p:sp>
        <p:nvSpPr>
          <p:cNvPr id="16" name="shape-110">
            <a:extLst xmlns:a="http://schemas.openxmlformats.org/drawingml/2006/main">
              <a:ext uri="{FF2B5EF4-FFF2-40B4-BE49-F238E27FC236}">
                <a16:creationId xmlns:a16="http://schemas.microsoft.com/office/drawing/2014/main" id="{D161793C-2CAE-4485-B9B8-54EA11F9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364"/>
          </a:solidFill>
          <a:ln xmlns:a="http://schemas.openxmlformats.org/drawingml/2006/main" w="0">
            <a:solidFill>
              <a:srgbClr val="587364"/>
            </a:solidFill>
            <a:prstDash val="solid"/>
          </a:ln>
        </p:spPr>
      </p:sp>
      <p:sp>
        <p:nvSpPr>
          <p:cNvPr id="17" name="text-111">
            <a:extLst xmlns:a="http://schemas.openxmlformats.org/drawingml/2006/main">
              <a:ext uri="{FF2B5EF4-FFF2-40B4-BE49-F238E27FC236}">
                <a16:creationId xmlns:a16="http://schemas.microsoft.com/office/drawing/2014/main" id="{DCFDA563-E1EE-446E-8D55-7140CBA0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667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管理者观察状态、偏差、责任、等待、返工与经营影响，并发起协调。</a:t>
            </a:r>
          </a:p>
        </p:txBody>
      </p:sp>
      <p:sp>
        <p:nvSpPr>
          <p:cNvPr id="18" name="text-112">
            <a:extLst xmlns:a="http://schemas.openxmlformats.org/drawingml/2006/main">
              <a:ext uri="{FF2B5EF4-FFF2-40B4-BE49-F238E27FC236}">
                <a16:creationId xmlns:a16="http://schemas.microsoft.com/office/drawing/2014/main" id="{2297B882-2ECC-403D-9CEA-935F270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9" name="text-113">
            <a:extLst xmlns:a="http://schemas.openxmlformats.org/drawingml/2006/main">
              <a:ext uri="{FF2B5EF4-FFF2-40B4-BE49-F238E27FC236}">
                <a16:creationId xmlns:a16="http://schemas.microsoft.com/office/drawing/2014/main" id="{1B71BD56-C0E5-401A-A201-2DAE3394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2400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演进循环</a:t>
            </a:r>
          </a:p>
        </p:txBody>
      </p:sp>
      <p:sp>
        <p:nvSpPr>
          <p:cNvPr id="20" name="shape-114">
            <a:extLst xmlns:a="http://schemas.openxmlformats.org/drawingml/2006/main">
              <a:ext uri="{FF2B5EF4-FFF2-40B4-BE49-F238E27FC236}">
                <a16:creationId xmlns:a16="http://schemas.microsoft.com/office/drawing/2014/main" id="{F32B2634-CEE3-452D-89DA-25B1898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1623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21" name="text-115">
            <a:extLst xmlns:a="http://schemas.openxmlformats.org/drawingml/2006/main">
              <a:ext uri="{FF2B5EF4-FFF2-40B4-BE49-F238E27FC236}">
                <a16:creationId xmlns:a16="http://schemas.microsoft.com/office/drawing/2014/main" id="{89D83083-F8D4-46FA-BAFC-AB23D53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让下一笔更好</a:t>
            </a:r>
          </a:p>
        </p:txBody>
      </p:sp>
      <p:sp>
        <p:nvSpPr>
          <p:cNvPr id="22" name="shape-116">
            <a:extLst xmlns:a="http://schemas.openxmlformats.org/drawingml/2006/main">
              <a:ext uri="{FF2B5EF4-FFF2-40B4-BE49-F238E27FC236}">
                <a16:creationId xmlns:a16="http://schemas.microsoft.com/office/drawing/2014/main" id="{36FEB73B-E9F7-47B1-9FAA-B10EA91D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043"/>
          </a:solidFill>
          <a:ln xmlns:a="http://schemas.openxmlformats.org/drawingml/2006/main" w="0">
            <a:solidFill>
              <a:srgbClr val="A98043"/>
            </a:solidFill>
            <a:prstDash val="solid"/>
          </a:ln>
        </p:spPr>
      </p:sp>
      <p:sp>
        <p:nvSpPr>
          <p:cNvPr id="23" name="text-117">
            <a:extLst xmlns:a="http://schemas.openxmlformats.org/drawingml/2006/main">
              <a:ext uri="{FF2B5EF4-FFF2-40B4-BE49-F238E27FC236}">
                <a16:creationId xmlns:a16="http://schemas.microsoft.com/office/drawing/2014/main" id="{CEA1C6DC-7F55-42E0-97DF-CECE3920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6670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领域 + 系统 + 智能共同研究、验证、发布、观测和纠偏。</a:t>
            </a:r>
          </a:p>
        </p:txBody>
      </p:sp>
      <p:sp>
        <p:nvSpPr>
          <p:cNvPr id="24" name="shape-118">
            <a:extLst xmlns:a="http://schemas.openxmlformats.org/drawingml/2006/main">
              <a:ext uri="{FF2B5EF4-FFF2-40B4-BE49-F238E27FC236}">
                <a16:creationId xmlns:a16="http://schemas.microsoft.com/office/drawing/2014/main" id="{CC2C89E4-6DA1-408E-8A4F-864FB3B8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718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5" name="shape-119">
            <a:extLst xmlns:a="http://schemas.openxmlformats.org/drawingml/2006/main">
              <a:ext uri="{FF2B5EF4-FFF2-40B4-BE49-F238E27FC236}">
                <a16:creationId xmlns:a16="http://schemas.microsoft.com/office/drawing/2014/main" id="{82DA5B61-DC69-4016-93F2-D692C749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718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6" name="shape-120">
            <a:extLst xmlns:a="http://schemas.openxmlformats.org/drawingml/2006/main">
              <a:ext uri="{FF2B5EF4-FFF2-40B4-BE49-F238E27FC236}">
                <a16:creationId xmlns:a16="http://schemas.microsoft.com/office/drawing/2014/main" id="{84CEEC88-741C-488C-9EAD-74B6BCD3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00650"/>
            <a:ext cx="8267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7" name="text-121">
            <a:extLst xmlns:a="http://schemas.openxmlformats.org/drawingml/2006/main">
              <a:ext uri="{FF2B5EF4-FFF2-40B4-BE49-F238E27FC236}">
                <a16:creationId xmlns:a16="http://schemas.microsoft.com/office/drawing/2014/main" id="{99FC7829-5A48-4D84-AEFE-2C5C9568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53050"/>
            <a:ext cx="7734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共同底座：同一 Case Context + 可追溯 Evidence / Gate / Receipt / Version</a:t>
            </a:r>
          </a:p>
        </p:txBody>
      </p:sp>
    </p:spTree>
    <p:extLst>
      <p:ext uri="{BB962C8B-B14F-4D97-AF65-F5344CB8AC3E}">
        <p14:creationId xmlns:p14="http://schemas.microsoft.com/office/powerpoint/2010/main" val="1193043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22">
            <a:extLst xmlns:a="http://schemas.openxmlformats.org/drawingml/2006/main">
              <a:ext uri="{FF2B5EF4-FFF2-40B4-BE49-F238E27FC236}">
                <a16:creationId xmlns:a16="http://schemas.microsoft.com/office/drawing/2014/main" id="{3A634955-26FC-4C25-B497-41D7C39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05｜HOW WE LEARN</a:t>
            </a:r>
          </a:p>
        </p:txBody>
      </p:sp>
      <p:sp>
        <p:nvSpPr>
          <p:cNvPr id="2" name="text-123">
            <a:extLst xmlns:a="http://schemas.openxmlformats.org/drawingml/2006/main">
              <a:ext uri="{FF2B5EF4-FFF2-40B4-BE49-F238E27FC236}">
                <a16:creationId xmlns:a16="http://schemas.microsoft.com/office/drawing/2014/main" id="{AA2B151D-5A89-44C3-9611-E16EDF0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稳定方向与最小实现，必须同时存在</a:t>
            </a:r>
          </a:p>
        </p:txBody>
      </p:sp>
      <p:sp>
        <p:nvSpPr>
          <p:cNvPr id="3" name="shape-124">
            <a:extLst xmlns:a="http://schemas.openxmlformats.org/drawingml/2006/main">
              <a:ext uri="{FF2B5EF4-FFF2-40B4-BE49-F238E27FC236}">
                <a16:creationId xmlns:a16="http://schemas.microsoft.com/office/drawing/2014/main" id="{02A7F7E6-1EF3-4BA9-A7E0-DF2107D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125">
            <a:extLst xmlns:a="http://schemas.openxmlformats.org/drawingml/2006/main">
              <a:ext uri="{FF2B5EF4-FFF2-40B4-BE49-F238E27FC236}">
                <a16:creationId xmlns:a16="http://schemas.microsoft.com/office/drawing/2014/main" id="{521404DF-891E-42BF-A818-4242115B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54AAEF60-9B8A-4978-A309-F435C58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6" name="shape-127">
            <a:extLst xmlns:a="http://schemas.openxmlformats.org/drawingml/2006/main">
              <a:ext uri="{FF2B5EF4-FFF2-40B4-BE49-F238E27FC236}">
                <a16:creationId xmlns:a16="http://schemas.microsoft.com/office/drawing/2014/main" id="{50DBB137-0D7C-46BE-8F34-45220E3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724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B9C0C2"/>
            </a:solidFill>
            <a:prstDash val="solid"/>
          </a:ln>
        </p:spPr>
      </p:sp>
      <p:sp>
        <p:nvSpPr>
          <p:cNvPr id="7" name="text-128">
            <a:extLst xmlns:a="http://schemas.openxmlformats.org/drawingml/2006/main">
              <a:ext uri="{FF2B5EF4-FFF2-40B4-BE49-F238E27FC236}">
                <a16:creationId xmlns:a16="http://schemas.microsoft.com/office/drawing/2014/main" id="{DDBC3E8D-945A-4934-A450-7626E47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只有讨论</a:t>
            </a:r>
          </a:p>
        </p:txBody>
      </p:sp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22EAA460-2B8A-4D1C-86A8-0FE6785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3050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结构看似完整，真实 Evidence、接口和责任问题仍然隐藏。</a:t>
            </a:r>
          </a:p>
        </p:txBody>
      </p:sp>
      <p:sp>
        <p:nvSpPr>
          <p:cNvPr id="9" name="text-130">
            <a:extLst xmlns:a="http://schemas.openxmlformats.org/drawingml/2006/main">
              <a:ext uri="{FF2B5EF4-FFF2-40B4-BE49-F238E27FC236}">
                <a16:creationId xmlns:a16="http://schemas.microsoft.com/office/drawing/2014/main" id="{CD54E09A-BBC1-458F-B14E-B8D71FB7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11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缺少现实反馈</a:t>
            </a:r>
          </a:p>
        </p:txBody>
      </p:sp>
      <p:sp>
        <p:nvSpPr>
          <p:cNvPr id="10" name="shape-131">
            <a:extLst xmlns:a="http://schemas.openxmlformats.org/drawingml/2006/main">
              <a:ext uri="{FF2B5EF4-FFF2-40B4-BE49-F238E27FC236}">
                <a16:creationId xmlns:a16="http://schemas.microsoft.com/office/drawing/2014/main" id="{300AF743-D7DC-49E2-996D-45CCDD6E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724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DFDB"/>
          </a:solidFill>
          <a:ln xmlns:a="http://schemas.openxmlformats.org/drawingml/2006/main" w="9525">
            <a:solidFill>
              <a:srgbClr val="865E5A"/>
            </a:solidFill>
            <a:prstDash val="solid"/>
          </a:ln>
        </p:spPr>
      </p:sp>
      <p:sp>
        <p:nvSpPr>
          <p:cNvPr id="11" name="text-132">
            <a:extLst xmlns:a="http://schemas.openxmlformats.org/drawingml/2006/main">
              <a:ext uri="{FF2B5EF4-FFF2-40B4-BE49-F238E27FC236}">
                <a16:creationId xmlns:a16="http://schemas.microsoft.com/office/drawing/2014/main" id="{C5D3505B-A008-41D5-B547-938D501D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7645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直接大开发</a:t>
            </a:r>
          </a:p>
        </p:txBody>
      </p:sp>
      <p:sp>
        <p:nvSpPr>
          <p:cNvPr id="12" name="text-133">
            <a:extLst xmlns:a="http://schemas.openxmlformats.org/drawingml/2006/main">
              <a:ext uri="{FF2B5EF4-FFF2-40B4-BE49-F238E27FC236}">
                <a16:creationId xmlns:a16="http://schemas.microsoft.com/office/drawing/2014/main" id="{E5A8F56A-FE09-4CE3-8F45-4DD01CE1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90800"/>
            <a:ext cx="23050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同时扩领域、角色、系统、权限和 AI，成本上升却无法定位问题。</a:t>
            </a:r>
          </a:p>
        </p:txBody>
      </p:sp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A227563E-4E29-407D-9EF6-E5162B8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211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未知被固化</a:t>
            </a:r>
          </a:p>
        </p:txBody>
      </p:sp>
      <p:sp>
        <p:nvSpPr>
          <p:cNvPr id="14" name="shape-135">
            <a:extLst xmlns:a="http://schemas.openxmlformats.org/drawingml/2006/main">
              <a:ext uri="{FF2B5EF4-FFF2-40B4-BE49-F238E27FC236}">
                <a16:creationId xmlns:a16="http://schemas.microsoft.com/office/drawing/2014/main" id="{4DB5F085-C5EA-48CA-ACA9-15143905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04950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7EB"/>
          </a:solidFill>
          <a:ln xmlns:a="http://schemas.openxmlformats.org/drawingml/2006/main" w="19050">
            <a:solidFill>
              <a:srgbClr val="4E7185"/>
            </a:solidFill>
            <a:prstDash val="solid"/>
          </a:ln>
        </p:spPr>
      </p:sp>
      <p:sp>
        <p:nvSpPr>
          <p:cNvPr id="15" name="shape-136">
            <a:extLst xmlns:a="http://schemas.openxmlformats.org/drawingml/2006/main">
              <a:ext uri="{FF2B5EF4-FFF2-40B4-BE49-F238E27FC236}">
                <a16:creationId xmlns:a16="http://schemas.microsoft.com/office/drawing/2014/main" id="{59CB5DE4-4124-4B04-8B2A-0FBD1C0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469B6547-3A90-4541-B64E-130BD544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9555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North Star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6F261803-8A4C-434B-B224-497D1AA7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1638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 · Case · Authority
数据 · 安全 · 交付等级</a:t>
            </a:r>
          </a:p>
        </p:txBody>
      </p:sp>
      <p:sp>
        <p:nvSpPr>
          <p:cNvPr id="18" name="shape-139">
            <a:extLst xmlns:a="http://schemas.openxmlformats.org/drawingml/2006/main">
              <a:ext uri="{FF2B5EF4-FFF2-40B4-BE49-F238E27FC236}">
                <a16:creationId xmlns:a16="http://schemas.microsoft.com/office/drawing/2014/main" id="{CCB5A731-7304-4565-B563-9A84E43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800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19" name="shape-140">
            <a:extLst xmlns:a="http://schemas.openxmlformats.org/drawingml/2006/main">
              <a:ext uri="{FF2B5EF4-FFF2-40B4-BE49-F238E27FC236}">
                <a16:creationId xmlns:a16="http://schemas.microsoft.com/office/drawing/2014/main" id="{365B7A34-F535-4DF3-B42D-04154CD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800100" cy="4000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20" name="text-141">
            <a:extLst xmlns:a="http://schemas.openxmlformats.org/drawingml/2006/main">
              <a:ext uri="{FF2B5EF4-FFF2-40B4-BE49-F238E27FC236}">
                <a16:creationId xmlns:a16="http://schemas.microsoft.com/office/drawing/2014/main" id="{E18F1833-08B9-4E35-9134-C4A081F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0"/>
            <a:ext cx="308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最小可观察实现</a:t>
            </a:r>
          </a:p>
        </p:txBody>
      </p:sp>
      <p:sp>
        <p:nvSpPr>
          <p:cNvPr id="21" name="text-142">
            <a:extLst xmlns:a="http://schemas.openxmlformats.org/drawingml/2006/main">
              <a:ext uri="{FF2B5EF4-FFF2-40B4-BE49-F238E27FC236}">
                <a16:creationId xmlns:a16="http://schemas.microsoft.com/office/drawing/2014/main" id="{BC6831AB-6454-41F5-81DA-E82D0E89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533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 → 观测 → 纠偏 → 验证 → 下一小步</a:t>
            </a:r>
          </a:p>
        </p:txBody>
      </p:sp>
      <p:sp>
        <p:nvSpPr>
          <p:cNvPr id="22" name="shape-143">
            <a:extLst xmlns:a="http://schemas.openxmlformats.org/drawingml/2006/main">
              <a:ext uri="{FF2B5EF4-FFF2-40B4-BE49-F238E27FC236}">
                <a16:creationId xmlns:a16="http://schemas.microsoft.com/office/drawing/2014/main" id="{98571201-6412-44C5-BDE6-960A0C1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62600"/>
            <a:ext cx="4914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EEE3D1"/>
            </a:solidFill>
            <a:prstDash val="solid"/>
          </a:ln>
        </p:spPr>
      </p:sp>
      <p:sp>
        <p:nvSpPr>
          <p:cNvPr id="23" name="text-144">
            <a:extLst xmlns:a="http://schemas.openxmlformats.org/drawingml/2006/main">
              <a:ext uri="{FF2B5EF4-FFF2-40B4-BE49-F238E27FC236}">
                <a16:creationId xmlns:a16="http://schemas.microsoft.com/office/drawing/2014/main" id="{64EA41F3-1E73-4856-B47A-181BB16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38800"/>
            <a:ext cx="4495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每次只增加一个主要复杂度</a:t>
            </a:r>
          </a:p>
        </p:txBody>
      </p:sp>
    </p:spTree>
    <p:extLst>
      <p:ext uri="{BB962C8B-B14F-4D97-AF65-F5344CB8AC3E}">
        <p14:creationId xmlns:p14="http://schemas.microsoft.com/office/powerpoint/2010/main" val="754892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5">
            <a:extLst xmlns:a="http://schemas.openxmlformats.org/drawingml/2006/main">
              <a:ext uri="{FF2B5EF4-FFF2-40B4-BE49-F238E27FC236}">
                <a16:creationId xmlns:a16="http://schemas.microsoft.com/office/drawing/2014/main" id="{ED2CC495-B7C0-4689-9F22-20760AA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06｜THE LIVING CELL</a:t>
            </a:r>
          </a:p>
        </p:txBody>
      </p:sp>
      <p:sp>
        <p:nvSpPr>
          <p:cNvPr id="2" name="text-146">
            <a:extLst xmlns:a="http://schemas.openxmlformats.org/drawingml/2006/main">
              <a:ext uri="{FF2B5EF4-FFF2-40B4-BE49-F238E27FC236}">
                <a16:creationId xmlns:a16="http://schemas.microsoft.com/office/drawing/2014/main" id="{46A2D240-997E-452A-B126-357FE0C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活细胞必须能工作、承担责任，也能学习</a:t>
            </a:r>
          </a:p>
        </p:txBody>
      </p:sp>
      <p:sp>
        <p:nvSpPr>
          <p:cNvPr id="3" name="shape-147">
            <a:extLst xmlns:a="http://schemas.openxmlformats.org/drawingml/2006/main">
              <a:ext uri="{FF2B5EF4-FFF2-40B4-BE49-F238E27FC236}">
                <a16:creationId xmlns:a16="http://schemas.microsoft.com/office/drawing/2014/main" id="{6ADD4507-7B75-478F-A6C4-B8204DBC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148">
            <a:extLst xmlns:a="http://schemas.openxmlformats.org/drawingml/2006/main">
              <a:ext uri="{FF2B5EF4-FFF2-40B4-BE49-F238E27FC236}">
                <a16:creationId xmlns:a16="http://schemas.microsoft.com/office/drawing/2014/main" id="{C574A39A-EFC4-4D05-847F-386F056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149">
            <a:extLst xmlns:a="http://schemas.openxmlformats.org/drawingml/2006/main">
              <a:ext uri="{FF2B5EF4-FFF2-40B4-BE49-F238E27FC236}">
                <a16:creationId xmlns:a16="http://schemas.microsoft.com/office/drawing/2014/main" id="{A4535C52-E568-46EB-8021-9F79AE7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6" name="shape-150">
            <a:extLst xmlns:a="http://schemas.openxmlformats.org/drawingml/2006/main">
              <a:ext uri="{FF2B5EF4-FFF2-40B4-BE49-F238E27FC236}">
                <a16:creationId xmlns:a16="http://schemas.microsoft.com/office/drawing/2014/main" id="{8A9DBFB0-32EC-4D73-88A7-B08FF83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7" name="shape-151">
            <a:extLst xmlns:a="http://schemas.openxmlformats.org/drawingml/2006/main">
              <a:ext uri="{FF2B5EF4-FFF2-40B4-BE49-F238E27FC236}">
                <a16:creationId xmlns:a16="http://schemas.microsoft.com/office/drawing/2014/main" id="{9F51A12B-F44E-46A1-8F18-88BF67B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8" name="shape-152">
            <a:extLst xmlns:a="http://schemas.openxmlformats.org/drawingml/2006/main">
              <a:ext uri="{FF2B5EF4-FFF2-40B4-BE49-F238E27FC236}">
                <a16:creationId xmlns:a16="http://schemas.microsoft.com/office/drawing/2014/main" id="{7CDCF877-D982-462E-BAFF-22090A3C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2860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9" name="text-153">
            <a:extLst xmlns:a="http://schemas.openxmlformats.org/drawingml/2006/main">
              <a:ext uri="{FF2B5EF4-FFF2-40B4-BE49-F238E27FC236}">
                <a16:creationId xmlns:a16="http://schemas.microsoft.com/office/drawing/2014/main" id="{98172BEC-3F8D-4F78-BEA8-910FFDF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活细胞</a:t>
            </a:r>
          </a:p>
        </p:txBody>
      </p:sp>
      <p:sp>
        <p:nvSpPr>
          <p:cNvPr id="10" name="text-154">
            <a:extLst xmlns:a="http://schemas.openxmlformats.org/drawingml/2006/main">
              <a:ext uri="{FF2B5EF4-FFF2-40B4-BE49-F238E27FC236}">
                <a16:creationId xmlns:a16="http://schemas.microsoft.com/office/drawing/2014/main" id="{EA0CDA22-01F3-4343-B5E8-00675B10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围绕同一 Case</a:t>
            </a:r>
          </a:p>
        </p:txBody>
      </p:sp>
      <p:sp>
        <p:nvSpPr>
          <p:cNvPr id="11" name="shape-155">
            <a:extLst xmlns:a="http://schemas.openxmlformats.org/drawingml/2006/main">
              <a:ext uri="{FF2B5EF4-FFF2-40B4-BE49-F238E27FC236}">
                <a16:creationId xmlns:a16="http://schemas.microsoft.com/office/drawing/2014/main" id="{7311B69B-3FC1-47E4-8E33-6AA19DD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181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12" name="text-156">
            <a:extLst xmlns:a="http://schemas.openxmlformats.org/drawingml/2006/main">
              <a:ext uri="{FF2B5EF4-FFF2-40B4-BE49-F238E27FC236}">
                <a16:creationId xmlns:a16="http://schemas.microsoft.com/office/drawing/2014/main" id="{6BAB7627-EAC6-477A-B277-89C1CEBF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感知</a:t>
            </a:r>
          </a:p>
        </p:txBody>
      </p:sp>
      <p:sp>
        <p:nvSpPr>
          <p:cNvPr id="13" name="text-157">
            <a:extLst xmlns:a="http://schemas.openxmlformats.org/drawingml/2006/main">
              <a:ext uri="{FF2B5EF4-FFF2-40B4-BE49-F238E27FC236}">
                <a16:creationId xmlns:a16="http://schemas.microsoft.com/office/drawing/2014/main" id="{617BA916-41D1-46BA-8194-AC43078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 Evidence，形成同一 Case Context</a:t>
            </a:r>
          </a:p>
        </p:txBody>
      </p:sp>
      <p:sp>
        <p:nvSpPr>
          <p:cNvPr id="14" name="shape-158">
            <a:extLst xmlns:a="http://schemas.openxmlformats.org/drawingml/2006/main">
              <a:ext uri="{FF2B5EF4-FFF2-40B4-BE49-F238E27FC236}">
                <a16:creationId xmlns:a16="http://schemas.microsoft.com/office/drawing/2014/main" id="{125927A4-0296-4108-89BF-4DEB4E9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181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5" name="text-159">
            <a:extLst xmlns:a="http://schemas.openxmlformats.org/drawingml/2006/main">
              <a:ext uri="{FF2B5EF4-FFF2-40B4-BE49-F238E27FC236}">
                <a16:creationId xmlns:a16="http://schemas.microsoft.com/office/drawing/2014/main" id="{17EB8387-ED3C-402F-827F-19C616B2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</a:t>
            </a:r>
          </a:p>
        </p:txBody>
      </p:sp>
      <p:sp>
        <p:nvSpPr>
          <p:cNvPr id="16" name="text-160">
            <a:extLst xmlns:a="http://schemas.openxmlformats.org/drawingml/2006/main">
              <a:ext uri="{FF2B5EF4-FFF2-40B4-BE49-F238E27FC236}">
                <a16:creationId xmlns:a16="http://schemas.microsoft.com/office/drawing/2014/main" id="{571BB038-9510-41DC-B18B-6A844B0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 / AI 完成机器工作；人保留正式判断</a:t>
            </a:r>
          </a:p>
        </p:txBody>
      </p:sp>
      <p:sp>
        <p:nvSpPr>
          <p:cNvPr id="17" name="shape-161">
            <a:extLst xmlns:a="http://schemas.openxmlformats.org/drawingml/2006/main">
              <a:ext uri="{FF2B5EF4-FFF2-40B4-BE49-F238E27FC236}">
                <a16:creationId xmlns:a16="http://schemas.microsoft.com/office/drawing/2014/main" id="{B0FBBE85-CF8B-48BB-805F-5FE6387D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181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18" name="text-162">
            <a:extLst xmlns:a="http://schemas.openxmlformats.org/drawingml/2006/main">
              <a:ext uri="{FF2B5EF4-FFF2-40B4-BE49-F238E27FC236}">
                <a16:creationId xmlns:a16="http://schemas.microsoft.com/office/drawing/2014/main" id="{FBD6720A-735F-4197-85DF-B6A9E021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</a:t>
            </a:r>
          </a:p>
        </p:txBody>
      </p:sp>
      <p:sp>
        <p:nvSpPr>
          <p:cNvPr id="19" name="text-163">
            <a:extLst xmlns:a="http://schemas.openxmlformats.org/drawingml/2006/main">
              <a:ext uri="{FF2B5EF4-FFF2-40B4-BE49-F238E27FC236}">
                <a16:creationId xmlns:a16="http://schemas.microsoft.com/office/drawing/2014/main" id="{E5EA41E1-16B8-4ECF-B41A-D0C8A16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领域 + 系统 + 智能通过 Evaluation、版本与回滚改进</a:t>
            </a:r>
          </a:p>
        </p:txBody>
      </p:sp>
      <p:sp>
        <p:nvSpPr>
          <p:cNvPr id="20" name="shape-164">
            <a:extLst xmlns:a="http://schemas.openxmlformats.org/drawingml/2006/main">
              <a:ext uri="{FF2B5EF4-FFF2-40B4-BE49-F238E27FC236}">
                <a16:creationId xmlns:a16="http://schemas.microsoft.com/office/drawing/2014/main" id="{D3F4EBA4-7494-4DD3-9F13-7ACA858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3181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FE8E2"/>
          </a:solidFill>
          <a:ln xmlns:a="http://schemas.openxmlformats.org/drawingml/2006/main" w="9525">
            <a:solidFill>
              <a:srgbClr val="587364"/>
            </a:solidFill>
            <a:prstDash val="solid"/>
          </a:ln>
        </p:spPr>
      </p:sp>
      <p:sp>
        <p:nvSpPr>
          <p:cNvPr id="21" name="text-165">
            <a:extLst xmlns:a="http://schemas.openxmlformats.org/drawingml/2006/main">
              <a:ext uri="{FF2B5EF4-FFF2-40B4-BE49-F238E27FC236}">
                <a16:creationId xmlns:a16="http://schemas.microsoft.com/office/drawing/2014/main" id="{2C22BF6A-C12F-462B-A538-7931C4DD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行动</a:t>
            </a:r>
          </a:p>
        </p:txBody>
      </p:sp>
      <p:sp>
        <p:nvSpPr>
          <p:cNvPr id="22" name="text-166">
            <a:extLst xmlns:a="http://schemas.openxmlformats.org/drawingml/2006/main">
              <a:ext uri="{FF2B5EF4-FFF2-40B4-BE49-F238E27FC236}">
                <a16:creationId xmlns:a16="http://schemas.microsoft.com/office/drawing/2014/main" id="{D58268A4-3133-4166-A7FB-5FF6AD3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2762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具名 Human Gate、真实 Receipt、正式状态与下一接续</a:t>
            </a:r>
          </a:p>
        </p:txBody>
      </p:sp>
      <p:sp>
        <p:nvSpPr>
          <p:cNvPr id="23" name="shape-167">
            <a:extLst xmlns:a="http://schemas.openxmlformats.org/drawingml/2006/main">
              <a:ext uri="{FF2B5EF4-FFF2-40B4-BE49-F238E27FC236}">
                <a16:creationId xmlns:a16="http://schemas.microsoft.com/office/drawing/2014/main" id="{53BBC251-221D-4D75-B66F-D28F1C3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6217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24" name="shape-168">
            <a:extLst xmlns:a="http://schemas.openxmlformats.org/drawingml/2006/main">
              <a:ext uri="{FF2B5EF4-FFF2-40B4-BE49-F238E27FC236}">
                <a16:creationId xmlns:a16="http://schemas.microsoft.com/office/drawing/2014/main" id="{97017582-D1C0-47A1-ACF8-0D390A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6217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25" name="shape-169">
            <a:extLst xmlns:a="http://schemas.openxmlformats.org/drawingml/2006/main">
              <a:ext uri="{FF2B5EF4-FFF2-40B4-BE49-F238E27FC236}">
                <a16:creationId xmlns:a16="http://schemas.microsoft.com/office/drawing/2014/main" id="{DBE45679-FD48-4F67-978E-839779FF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8043"/>
          </a:solidFill>
          <a:ln xmlns:a="http://schemas.openxmlformats.org/drawingml/2006/main" w="0">
            <a:solidFill>
              <a:srgbClr val="A98043"/>
            </a:solidFill>
            <a:prstDash val="solid"/>
          </a:ln>
        </p:spPr>
      </p:sp>
      <p:sp>
        <p:nvSpPr>
          <p:cNvPr id="26" name="shape-170">
            <a:extLst xmlns:a="http://schemas.openxmlformats.org/drawingml/2006/main">
              <a:ext uri="{FF2B5EF4-FFF2-40B4-BE49-F238E27FC236}">
                <a16:creationId xmlns:a16="http://schemas.microsoft.com/office/drawing/2014/main" id="{BDEDC2D1-777C-404E-91E1-C1AFDD8E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49530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87364"/>
          </a:solidFill>
          <a:ln xmlns:a="http://schemas.openxmlformats.org/drawingml/2006/main" w="0">
            <a:solidFill>
              <a:srgbClr val="587364"/>
            </a:solidFill>
            <a:prstDash val="solid"/>
          </a:ln>
        </p:spPr>
      </p:sp>
      <p:sp>
        <p:nvSpPr>
          <p:cNvPr id="27" name="text-171">
            <a:extLst xmlns:a="http://schemas.openxmlformats.org/drawingml/2006/main">
              <a:ext uri="{FF2B5EF4-FFF2-40B4-BE49-F238E27FC236}">
                <a16:creationId xmlns:a16="http://schemas.microsoft.com/office/drawing/2014/main" id="{84C1F3F1-314E-4536-B7B3-8999F9C7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3657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Agent：只能生成候选 · authority=none</a:t>
            </a:r>
          </a:p>
        </p:txBody>
      </p:sp>
    </p:spTree>
    <p:extLst>
      <p:ext uri="{BB962C8B-B14F-4D97-AF65-F5344CB8AC3E}">
        <p14:creationId xmlns:p14="http://schemas.microsoft.com/office/powerpoint/2010/main" val="738036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172">
            <a:extLst xmlns:a="http://schemas.openxmlformats.org/drawingml/2006/main">
              <a:ext uri="{FF2B5EF4-FFF2-40B4-BE49-F238E27FC236}">
                <a16:creationId xmlns:a16="http://schemas.microsoft.com/office/drawing/2014/main" id="{2FB814EE-3341-44CB-9074-E46711DC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07｜P1 CANDIDATE</a:t>
            </a:r>
          </a:p>
        </p:txBody>
      </p:sp>
      <p:sp>
        <p:nvSpPr>
          <p:cNvPr id="2" name="text-173">
            <a:extLst xmlns:a="http://schemas.openxmlformats.org/drawingml/2006/main">
              <a:ext uri="{FF2B5EF4-FFF2-40B4-BE49-F238E27FC236}">
                <a16:creationId xmlns:a16="http://schemas.microsoft.com/office/drawing/2014/main" id="{B2F1A881-99E9-461F-9997-DAD0FD5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先用一个信审任务，让活细胞在纸面上跑通</a:t>
            </a:r>
          </a:p>
        </p:txBody>
      </p:sp>
      <p:sp>
        <p:nvSpPr>
          <p:cNvPr id="3" name="shape-174">
            <a:extLst xmlns:a="http://schemas.openxmlformats.org/drawingml/2006/main">
              <a:ext uri="{FF2B5EF4-FFF2-40B4-BE49-F238E27FC236}">
                <a16:creationId xmlns:a16="http://schemas.microsoft.com/office/drawing/2014/main" id="{E8389BD4-8C03-49AD-90A8-69AE3B88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175">
            <a:extLst xmlns:a="http://schemas.openxmlformats.org/drawingml/2006/main">
              <a:ext uri="{FF2B5EF4-FFF2-40B4-BE49-F238E27FC236}">
                <a16:creationId xmlns:a16="http://schemas.microsoft.com/office/drawing/2014/main" id="{65DF541E-A7A5-4D68-A3BD-2F72EB3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69440DBE-2659-4C4D-8F24-87D5741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6" name="shape-177">
            <a:extLst xmlns:a="http://schemas.openxmlformats.org/drawingml/2006/main">
              <a:ext uri="{FF2B5EF4-FFF2-40B4-BE49-F238E27FC236}">
                <a16:creationId xmlns:a16="http://schemas.microsoft.com/office/drawing/2014/main" id="{56AF920C-3F15-4CD4-A554-625F4AD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95400"/>
            <a:ext cx="2628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EEE3D1"/>
            </a:solidFill>
            <a:prstDash val="solid"/>
          </a:ln>
        </p:spPr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00CDB72D-0828-4381-AB7A-C6BF367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14450"/>
            <a:ext cx="2628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候选｜待业务调研验证</a:t>
            </a:r>
          </a:p>
        </p:txBody>
      </p:sp>
      <p:sp>
        <p:nvSpPr>
          <p:cNvPr id="8" name="shape-179">
            <a:extLst xmlns:a="http://schemas.openxmlformats.org/drawingml/2006/main">
              <a:ext uri="{FF2B5EF4-FFF2-40B4-BE49-F238E27FC236}">
                <a16:creationId xmlns:a16="http://schemas.microsoft.com/office/drawing/2014/main" id="{07B9A07D-BC28-4A51-8ED1-D841A077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9" name="text-180">
            <a:extLst xmlns:a="http://schemas.openxmlformats.org/drawingml/2006/main">
              <a:ext uri="{FF2B5EF4-FFF2-40B4-BE49-F238E27FC236}">
                <a16:creationId xmlns:a16="http://schemas.microsoft.com/office/drawing/2014/main" id="{7687A63F-DE43-496F-808A-734693B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text-181">
            <a:extLst xmlns:a="http://schemas.openxmlformats.org/drawingml/2006/main">
              <a:ext uri="{FF2B5EF4-FFF2-40B4-BE49-F238E27FC236}">
                <a16:creationId xmlns:a16="http://schemas.microsoft.com/office/drawing/2014/main" id="{40AEA69E-08B1-40D9-B615-9B7AE5DB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1390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材料进入</a:t>
            </a:r>
          </a:p>
        </p:txBody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4745F7C6-0F83-48E9-898B-DE68C526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Evidence</a:t>
            </a:r>
          </a:p>
        </p:txBody>
      </p:sp>
      <p:sp>
        <p:nvSpPr>
          <p:cNvPr id="12" name="shape-183">
            <a:extLst xmlns:a="http://schemas.openxmlformats.org/drawingml/2006/main">
              <a:ext uri="{FF2B5EF4-FFF2-40B4-BE49-F238E27FC236}">
                <a16:creationId xmlns:a16="http://schemas.microsoft.com/office/drawing/2014/main" id="{014FC8BC-6A9B-43D4-9D45-7DAB83C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3" name="shape-184">
            <a:extLst xmlns:a="http://schemas.openxmlformats.org/drawingml/2006/main">
              <a:ext uri="{FF2B5EF4-FFF2-40B4-BE49-F238E27FC236}">
                <a16:creationId xmlns:a16="http://schemas.microsoft.com/office/drawing/2014/main" id="{65599145-374F-406C-BE48-376E83B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4" name="text-185">
            <a:extLst xmlns:a="http://schemas.openxmlformats.org/drawingml/2006/main">
              <a:ext uri="{FF2B5EF4-FFF2-40B4-BE49-F238E27FC236}">
                <a16:creationId xmlns:a16="http://schemas.microsoft.com/office/drawing/2014/main" id="{1C120B5E-EB25-45E6-BC9E-344BE53B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text-186">
            <a:extLst xmlns:a="http://schemas.openxmlformats.org/drawingml/2006/main">
              <a:ext uri="{FF2B5EF4-FFF2-40B4-BE49-F238E27FC236}">
                <a16:creationId xmlns:a16="http://schemas.microsoft.com/office/drawing/2014/main" id="{07946101-BE8D-408F-AD32-D403C04A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1390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关键事实核验</a:t>
            </a:r>
          </a:p>
        </p:txBody>
      </p: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6247D2D5-3FC8-4143-BD74-E88B6AE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机器工作</a:t>
            </a:r>
          </a:p>
        </p:txBody>
      </p:sp>
      <p:sp>
        <p:nvSpPr>
          <p:cNvPr id="17" name="shape-188">
            <a:extLst xmlns:a="http://schemas.openxmlformats.org/drawingml/2006/main">
              <a:ext uri="{FF2B5EF4-FFF2-40B4-BE49-F238E27FC236}">
                <a16:creationId xmlns:a16="http://schemas.microsoft.com/office/drawing/2014/main" id="{A4C1EFD2-1B8E-4244-B478-D0255DB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8" name="shape-189">
            <a:extLst xmlns:a="http://schemas.openxmlformats.org/drawingml/2006/main">
              <a:ext uri="{FF2B5EF4-FFF2-40B4-BE49-F238E27FC236}">
                <a16:creationId xmlns:a16="http://schemas.microsoft.com/office/drawing/2014/main" id="{52B5A88E-0AAF-428C-A3EC-72E3795C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19" name="text-190">
            <a:extLst xmlns:a="http://schemas.openxmlformats.org/drawingml/2006/main">
              <a:ext uri="{FF2B5EF4-FFF2-40B4-BE49-F238E27FC236}">
                <a16:creationId xmlns:a16="http://schemas.microsoft.com/office/drawing/2014/main" id="{5810C11A-6B3E-40D2-A635-D1DE33A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91">
            <a:extLst xmlns:a="http://schemas.openxmlformats.org/drawingml/2006/main">
              <a:ext uri="{FF2B5EF4-FFF2-40B4-BE49-F238E27FC236}">
                <a16:creationId xmlns:a16="http://schemas.microsoft.com/office/drawing/2014/main" id="{697D92F8-B804-498A-9D83-797B937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390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发现矛盾 / 缺口</a:t>
            </a:r>
          </a:p>
        </p:txBody>
      </p:sp>
      <p:sp>
        <p:nvSpPr>
          <p:cNvPr id="21" name="text-192">
            <a:extLst xmlns:a="http://schemas.openxmlformats.org/drawingml/2006/main">
              <a:ext uri="{FF2B5EF4-FFF2-40B4-BE49-F238E27FC236}">
                <a16:creationId xmlns:a16="http://schemas.microsoft.com/office/drawing/2014/main" id="{FEC67BEC-42A8-495C-9866-8AE73BD6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作业信号</a:t>
            </a:r>
          </a:p>
        </p:txBody>
      </p:sp>
      <p:sp>
        <p:nvSpPr>
          <p:cNvPr id="22" name="shape-193">
            <a:extLst xmlns:a="http://schemas.openxmlformats.org/drawingml/2006/main">
              <a:ext uri="{FF2B5EF4-FFF2-40B4-BE49-F238E27FC236}">
                <a16:creationId xmlns:a16="http://schemas.microsoft.com/office/drawing/2014/main" id="{25BCBC69-9C9D-4D77-B512-C9191D4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3" name="shape-194">
            <a:extLst xmlns:a="http://schemas.openxmlformats.org/drawingml/2006/main">
              <a:ext uri="{FF2B5EF4-FFF2-40B4-BE49-F238E27FC236}">
                <a16:creationId xmlns:a16="http://schemas.microsoft.com/office/drawing/2014/main" id="{B970F63A-DC44-49B9-BE6A-4EC5DCAC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4" name="text-195">
            <a:extLst xmlns:a="http://schemas.openxmlformats.org/drawingml/2006/main">
              <a:ext uri="{FF2B5EF4-FFF2-40B4-BE49-F238E27FC236}">
                <a16:creationId xmlns:a16="http://schemas.microsoft.com/office/drawing/2014/main" id="{71C73D1C-CBE0-4D85-91CC-CCA41C0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text-196">
            <a:extLst xmlns:a="http://schemas.openxmlformats.org/drawingml/2006/main">
              <a:ext uri="{FF2B5EF4-FFF2-40B4-BE49-F238E27FC236}">
                <a16:creationId xmlns:a16="http://schemas.microsoft.com/office/drawing/2014/main" id="{F448DE40-5C20-4CBB-B748-99E55EE7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390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补件 / 候选判断</a:t>
            </a:r>
          </a:p>
        </p:txBody>
      </p:sp>
      <p:sp>
        <p:nvSpPr>
          <p:cNvPr id="26" name="text-197">
            <a:extLst xmlns:a="http://schemas.openxmlformats.org/drawingml/2006/main">
              <a:ext uri="{FF2B5EF4-FFF2-40B4-BE49-F238E27FC236}">
                <a16:creationId xmlns:a16="http://schemas.microsoft.com/office/drawing/2014/main" id="{C3837EC5-4F7E-4FF6-B336-3D31A130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候选</a:t>
            </a:r>
          </a:p>
        </p:txBody>
      </p:sp>
      <p:sp>
        <p:nvSpPr>
          <p:cNvPr id="27" name="shape-198">
            <a:extLst xmlns:a="http://schemas.openxmlformats.org/drawingml/2006/main">
              <a:ext uri="{FF2B5EF4-FFF2-40B4-BE49-F238E27FC236}">
                <a16:creationId xmlns:a16="http://schemas.microsoft.com/office/drawing/2014/main" id="{ACC1F9A7-4721-4BB8-82B4-6F0DF22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40005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8" name="shape-199">
            <a:extLst xmlns:a="http://schemas.openxmlformats.org/drawingml/2006/main">
              <a:ext uri="{FF2B5EF4-FFF2-40B4-BE49-F238E27FC236}">
                <a16:creationId xmlns:a16="http://schemas.microsoft.com/office/drawing/2014/main" id="{53B6E64E-6B36-4C6F-9D9E-AB6992E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781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29" name="text-200">
            <a:extLst xmlns:a="http://schemas.openxmlformats.org/drawingml/2006/main">
              <a:ext uri="{FF2B5EF4-FFF2-40B4-BE49-F238E27FC236}">
                <a16:creationId xmlns:a16="http://schemas.microsoft.com/office/drawing/2014/main" id="{E4C98F70-8A51-4207-9A3B-13800ED2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30" name="text-201">
            <a:extLst xmlns:a="http://schemas.openxmlformats.org/drawingml/2006/main">
              <a:ext uri="{FF2B5EF4-FFF2-40B4-BE49-F238E27FC236}">
                <a16:creationId xmlns:a16="http://schemas.microsoft.com/office/drawing/2014/main" id="{AFAD0759-E5CE-4E30-AC94-45C8BBB9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改进版本复跑</a:t>
            </a:r>
          </a:p>
        </p:txBody>
      </p:sp>
      <p:sp>
        <p:nvSpPr>
          <p:cNvPr id="31" name="text-202">
            <a:extLst xmlns:a="http://schemas.openxmlformats.org/drawingml/2006/main">
              <a:ext uri="{FF2B5EF4-FFF2-40B4-BE49-F238E27FC236}">
                <a16:creationId xmlns:a16="http://schemas.microsoft.com/office/drawing/2014/main" id="{C16BD3D6-4695-4A91-B303-03D0E18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Version</a:t>
            </a:r>
          </a:p>
        </p:txBody>
      </p:sp>
      <p:sp>
        <p:nvSpPr>
          <p:cNvPr id="32" name="shape-203">
            <a:extLst xmlns:a="http://schemas.openxmlformats.org/drawingml/2006/main">
              <a:ext uri="{FF2B5EF4-FFF2-40B4-BE49-F238E27FC236}">
                <a16:creationId xmlns:a16="http://schemas.microsoft.com/office/drawing/2014/main" id="{5B8793F7-8912-45A8-9398-2E476477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238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33" name="shape-204">
            <a:extLst xmlns:a="http://schemas.openxmlformats.org/drawingml/2006/main">
              <a:ext uri="{FF2B5EF4-FFF2-40B4-BE49-F238E27FC236}">
                <a16:creationId xmlns:a16="http://schemas.microsoft.com/office/drawing/2014/main" id="{C2B38D46-C673-4A56-BB8A-6BC5108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2781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34" name="text-205">
            <a:extLst xmlns:a="http://schemas.openxmlformats.org/drawingml/2006/main">
              <a:ext uri="{FF2B5EF4-FFF2-40B4-BE49-F238E27FC236}">
                <a16:creationId xmlns:a16="http://schemas.microsoft.com/office/drawing/2014/main" id="{DEFC1A61-E85D-4853-87C5-FFFFE70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910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5" name="text-206">
            <a:extLst xmlns:a="http://schemas.openxmlformats.org/drawingml/2006/main">
              <a:ext uri="{FF2B5EF4-FFF2-40B4-BE49-F238E27FC236}">
                <a16:creationId xmlns:a16="http://schemas.microsoft.com/office/drawing/2014/main" id="{9A403883-7285-45E5-940F-A6C3556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暴露系统问题</a:t>
            </a:r>
          </a:p>
        </p:txBody>
      </p:sp>
      <p:sp>
        <p:nvSpPr>
          <p:cNvPr id="36" name="text-207">
            <a:extLst xmlns:a="http://schemas.openxmlformats.org/drawingml/2006/main">
              <a:ext uri="{FF2B5EF4-FFF2-40B4-BE49-F238E27FC236}">
                <a16:creationId xmlns:a16="http://schemas.microsoft.com/office/drawing/2014/main" id="{9250FEF6-ADDE-4DD5-96CF-8CA176DD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387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</a:t>
            </a:r>
          </a:p>
        </p:txBody>
      </p:sp>
      <p:sp>
        <p:nvSpPr>
          <p:cNvPr id="37" name="shape-208">
            <a:extLst xmlns:a="http://schemas.openxmlformats.org/drawingml/2006/main">
              <a:ext uri="{FF2B5EF4-FFF2-40B4-BE49-F238E27FC236}">
                <a16:creationId xmlns:a16="http://schemas.microsoft.com/office/drawing/2014/main" id="{BA8B92FE-B211-4D49-9EC8-859CAD89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238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38" name="shape-209">
            <a:extLst xmlns:a="http://schemas.openxmlformats.org/drawingml/2006/main">
              <a:ext uri="{FF2B5EF4-FFF2-40B4-BE49-F238E27FC236}">
                <a16:creationId xmlns:a16="http://schemas.microsoft.com/office/drawing/2014/main" id="{856A482E-20D2-4F7C-813A-9C481309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2781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FE8E2"/>
          </a:solidFill>
          <a:ln xmlns:a="http://schemas.openxmlformats.org/drawingml/2006/main" w="9525">
            <a:solidFill>
              <a:srgbClr val="587364"/>
            </a:solidFill>
            <a:prstDash val="solid"/>
          </a:ln>
        </p:spPr>
      </p:sp>
      <p:sp>
        <p:nvSpPr>
          <p:cNvPr id="39" name="text-210">
            <a:extLst xmlns:a="http://schemas.openxmlformats.org/drawingml/2006/main">
              <a:ext uri="{FF2B5EF4-FFF2-40B4-BE49-F238E27FC236}">
                <a16:creationId xmlns:a16="http://schemas.microsoft.com/office/drawing/2014/main" id="{CBB5C2CE-08EB-41C0-B7EC-191DDD3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910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0" name="text-211">
            <a:extLst xmlns:a="http://schemas.openxmlformats.org/drawingml/2006/main">
              <a:ext uri="{FF2B5EF4-FFF2-40B4-BE49-F238E27FC236}">
                <a16:creationId xmlns:a16="http://schemas.microsoft.com/office/drawing/2014/main" id="{C82A50B1-66D9-408F-9D9B-3986746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1809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信审人员确认</a:t>
            </a:r>
          </a:p>
        </p:txBody>
      </p:sp>
      <p:sp>
        <p:nvSpPr>
          <p:cNvPr id="41" name="text-212">
            <a:extLst xmlns:a="http://schemas.openxmlformats.org/drawingml/2006/main">
              <a:ext uri="{FF2B5EF4-FFF2-40B4-BE49-F238E27FC236}">
                <a16:creationId xmlns:a16="http://schemas.microsoft.com/office/drawing/2014/main" id="{36CA84E6-8D7F-47D4-A67F-110B8C1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Human Gate</a:t>
            </a:r>
          </a:p>
        </p:txBody>
      </p:sp>
      <p:sp>
        <p:nvSpPr>
          <p:cNvPr id="42" name="shape-213">
            <a:extLst xmlns:a="http://schemas.openxmlformats.org/drawingml/2006/main">
              <a:ext uri="{FF2B5EF4-FFF2-40B4-BE49-F238E27FC236}">
                <a16:creationId xmlns:a16="http://schemas.microsoft.com/office/drawing/2014/main" id="{557F3182-C512-4795-BE64-52BB7FD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8839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43" name="text-214">
            <a:extLst xmlns:a="http://schemas.openxmlformats.org/drawingml/2006/main">
              <a:ext uri="{FF2B5EF4-FFF2-40B4-BE49-F238E27FC236}">
                <a16:creationId xmlns:a16="http://schemas.microsoft.com/office/drawing/2014/main" id="{0252399B-00DD-4CE1-A275-0B5D63E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验收重点不是“页面完成”，而是 Evidence → Gate → Receipt → Version 的闭环可观察</a:t>
            </a:r>
          </a:p>
        </p:txBody>
      </p:sp>
    </p:spTree>
    <p:extLst>
      <p:ext uri="{BB962C8B-B14F-4D97-AF65-F5344CB8AC3E}">
        <p14:creationId xmlns:p14="http://schemas.microsoft.com/office/powerpoint/2010/main" val="1861218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15">
            <a:extLst xmlns:a="http://schemas.openxmlformats.org/drawingml/2006/main">
              <a:ext uri="{FF2B5EF4-FFF2-40B4-BE49-F238E27FC236}">
                <a16:creationId xmlns:a16="http://schemas.microsoft.com/office/drawing/2014/main" id="{1FF1F50C-876C-4200-B5EE-511F8728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08｜EXPAND THE ORGANISM</a:t>
            </a:r>
          </a:p>
        </p:txBody>
      </p:sp>
      <p:sp>
        <p:nvSpPr>
          <p:cNvPr id="2" name="text-216">
            <a:extLst xmlns:a="http://schemas.openxmlformats.org/drawingml/2006/main">
              <a:ext uri="{FF2B5EF4-FFF2-40B4-BE49-F238E27FC236}">
                <a16:creationId xmlns:a16="http://schemas.microsoft.com/office/drawing/2014/main" id="{A002B4F5-A813-4F05-B394-CEA62B5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从信审扩到大风控，每个领域都要重新确认边界</a:t>
            </a:r>
          </a:p>
        </p:txBody>
      </p:sp>
      <p:sp>
        <p:nvSpPr>
          <p:cNvPr id="3" name="shape-217">
            <a:extLst xmlns:a="http://schemas.openxmlformats.org/drawingml/2006/main">
              <a:ext uri="{FF2B5EF4-FFF2-40B4-BE49-F238E27FC236}">
                <a16:creationId xmlns:a16="http://schemas.microsoft.com/office/drawing/2014/main" id="{9D3F1A06-1721-430E-8643-67FA128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218">
            <a:extLst xmlns:a="http://schemas.openxmlformats.org/drawingml/2006/main">
              <a:ext uri="{FF2B5EF4-FFF2-40B4-BE49-F238E27FC236}">
                <a16:creationId xmlns:a16="http://schemas.microsoft.com/office/drawing/2014/main" id="{BCC78426-7364-4B16-B7F6-7AAE27D3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219">
            <a:extLst xmlns:a="http://schemas.openxmlformats.org/drawingml/2006/main">
              <a:ext uri="{FF2B5EF4-FFF2-40B4-BE49-F238E27FC236}">
                <a16:creationId xmlns:a16="http://schemas.microsoft.com/office/drawing/2014/main" id="{F02D38CA-620F-406F-9EED-F04354F3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6" name="shape-220">
            <a:extLst xmlns:a="http://schemas.openxmlformats.org/drawingml/2006/main">
              <a:ext uri="{FF2B5EF4-FFF2-40B4-BE49-F238E27FC236}">
                <a16:creationId xmlns:a16="http://schemas.microsoft.com/office/drawing/2014/main" id="{EFE921C8-D4FC-46F0-BAF1-11330EB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7" name="shape-221">
            <a:extLst xmlns:a="http://schemas.openxmlformats.org/drawingml/2006/main">
              <a:ext uri="{FF2B5EF4-FFF2-40B4-BE49-F238E27FC236}">
                <a16:creationId xmlns:a16="http://schemas.microsoft.com/office/drawing/2014/main" id="{EA83B62F-2062-4201-906F-2CD6910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38550"/>
            <a:ext cx="731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8" name="shape-222">
            <a:extLst xmlns:a="http://schemas.openxmlformats.org/drawingml/2006/main">
              <a:ext uri="{FF2B5EF4-FFF2-40B4-BE49-F238E27FC236}">
                <a16:creationId xmlns:a16="http://schemas.microsoft.com/office/drawing/2014/main" id="{AEDC5B3C-053C-4D66-8837-718210C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22479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9" name="text-223">
            <a:extLst xmlns:a="http://schemas.openxmlformats.org/drawingml/2006/main">
              <a:ext uri="{FF2B5EF4-FFF2-40B4-BE49-F238E27FC236}">
                <a16:creationId xmlns:a16="http://schemas.microsoft.com/office/drawing/2014/main" id="{4B8129E7-76CA-4464-B75E-DDB31BB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0400"/>
            <a:ext cx="2247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CASE</a:t>
            </a:r>
          </a:p>
        </p:txBody>
      </p:sp>
      <p:sp>
        <p:nvSpPr>
          <p:cNvPr id="10" name="text-224">
            <a:extLst xmlns:a="http://schemas.openxmlformats.org/drawingml/2006/main">
              <a:ext uri="{FF2B5EF4-FFF2-40B4-BE49-F238E27FC236}">
                <a16:creationId xmlns:a16="http://schemas.microsoft.com/office/drawing/2014/main" id="{4BFEF6F3-A82A-4421-8087-F7D9FC7E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2247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Context 不分叉</a:t>
            </a:r>
          </a:p>
        </p:txBody>
      </p:sp>
      <p:sp>
        <p:nvSpPr>
          <p:cNvPr id="11" name="shape-225">
            <a:extLst xmlns:a="http://schemas.openxmlformats.org/drawingml/2006/main">
              <a:ext uri="{FF2B5EF4-FFF2-40B4-BE49-F238E27FC236}">
                <a16:creationId xmlns:a16="http://schemas.microsoft.com/office/drawing/2014/main" id="{7CCB5B70-75ED-4F76-9950-985C015D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67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8BF5BEBF-B92E-44D4-B340-656C383E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5ED575BB-2E45-466D-8F50-E67EFF5F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647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准入 · 规则 · 例外
待确认 Evidence / Authority / AI</a:t>
            </a:r>
          </a:p>
        </p:txBody>
      </p:sp>
      <p:sp>
        <p:nvSpPr>
          <p:cNvPr id="14" name="shape-228">
            <a:extLst xmlns:a="http://schemas.openxmlformats.org/drawingml/2006/main">
              <a:ext uri="{FF2B5EF4-FFF2-40B4-BE49-F238E27FC236}">
                <a16:creationId xmlns:a16="http://schemas.microsoft.com/office/drawing/2014/main" id="{31769833-7F20-41F0-B848-9FEED9B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067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15" name="text-229">
            <a:extLst xmlns:a="http://schemas.openxmlformats.org/drawingml/2006/main">
              <a:ext uri="{FF2B5EF4-FFF2-40B4-BE49-F238E27FC236}">
                <a16:creationId xmlns:a16="http://schemas.microsoft.com/office/drawing/2014/main" id="{659E25B5-00D3-421E-8A60-F062557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信审</a:t>
            </a:r>
          </a:p>
        </p:txBody>
      </p:sp>
      <p:sp>
        <p:nvSpPr>
          <p:cNvPr id="16" name="text-230">
            <a:extLst xmlns:a="http://schemas.openxmlformats.org/drawingml/2006/main">
              <a:ext uri="{FF2B5EF4-FFF2-40B4-BE49-F238E27FC236}">
                <a16:creationId xmlns:a16="http://schemas.microsoft.com/office/drawing/2014/main" id="{BD5ECC23-D621-4659-A62E-14E4FE3E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647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 · 证据 · 风险判断
P1 首个活细胞</a:t>
            </a:r>
          </a:p>
        </p:txBody>
      </p:sp>
      <p:sp>
        <p:nvSpPr>
          <p:cNvPr id="17" name="shape-231">
            <a:extLst xmlns:a="http://schemas.openxmlformats.org/drawingml/2006/main">
              <a:ext uri="{FF2B5EF4-FFF2-40B4-BE49-F238E27FC236}">
                <a16:creationId xmlns:a16="http://schemas.microsoft.com/office/drawing/2014/main" id="{F96AEEC6-1B54-458E-83C9-20DEDEF0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067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8" name="text-232">
            <a:extLst xmlns:a="http://schemas.openxmlformats.org/drawingml/2006/main">
              <a:ext uri="{FF2B5EF4-FFF2-40B4-BE49-F238E27FC236}">
                <a16:creationId xmlns:a16="http://schemas.microsoft.com/office/drawing/2014/main" id="{90659F5B-B0E2-415F-BC2D-5CA9BDD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商务</a:t>
            </a:r>
          </a:p>
        </p:txBody>
      </p:sp>
      <p:sp>
        <p:nvSpPr>
          <p:cNvPr id="19" name="text-233">
            <a:extLst xmlns:a="http://schemas.openxmlformats.org/drawingml/2006/main">
              <a:ext uri="{FF2B5EF4-FFF2-40B4-BE49-F238E27FC236}">
                <a16:creationId xmlns:a16="http://schemas.microsoft.com/office/drawing/2014/main" id="{63A6AF4D-6345-4978-9F29-1E29B8D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2647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条件 · 合同 · 付款 · 起租
待确认 Evidence / Authority / AI</a:t>
            </a:r>
          </a:p>
        </p:txBody>
      </p:sp>
      <p:sp>
        <p:nvSpPr>
          <p:cNvPr id="20" name="shape-234">
            <a:extLst xmlns:a="http://schemas.openxmlformats.org/drawingml/2006/main">
              <a:ext uri="{FF2B5EF4-FFF2-40B4-BE49-F238E27FC236}">
                <a16:creationId xmlns:a16="http://schemas.microsoft.com/office/drawing/2014/main" id="{94CC4FA9-FBD4-459D-BD31-812A487D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3067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1" name="text-235">
            <a:extLst xmlns:a="http://schemas.openxmlformats.org/drawingml/2006/main">
              <a:ext uri="{FF2B5EF4-FFF2-40B4-BE49-F238E27FC236}">
                <a16:creationId xmlns:a16="http://schemas.microsoft.com/office/drawing/2014/main" id="{532234E4-486C-4599-A1A5-AC4745DE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资产</a:t>
            </a:r>
          </a:p>
        </p:txBody>
      </p:sp>
      <p:sp>
        <p:nvSpPr>
          <p:cNvPr id="22" name="text-236">
            <a:extLst xmlns:a="http://schemas.openxmlformats.org/drawingml/2006/main">
              <a:ext uri="{FF2B5EF4-FFF2-40B4-BE49-F238E27FC236}">
                <a16:creationId xmlns:a16="http://schemas.microsoft.com/office/drawing/2014/main" id="{1A0392D5-8832-4D71-A959-61A84DA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2647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 · 履约 · 监测 · 处置
待确认 Evidence / Authority / AI</a:t>
            </a:r>
          </a:p>
        </p:txBody>
      </p:sp>
      <p:sp>
        <p:nvSpPr>
          <p:cNvPr id="23" name="shape-237">
            <a:extLst xmlns:a="http://schemas.openxmlformats.org/drawingml/2006/main">
              <a:ext uri="{FF2B5EF4-FFF2-40B4-BE49-F238E27FC236}">
                <a16:creationId xmlns:a16="http://schemas.microsoft.com/office/drawing/2014/main" id="{6E61137A-4D68-4BA8-A911-5EE7420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628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4" name="shape-238">
            <a:extLst xmlns:a="http://schemas.openxmlformats.org/drawingml/2006/main">
              <a:ext uri="{FF2B5EF4-FFF2-40B4-BE49-F238E27FC236}">
                <a16:creationId xmlns:a16="http://schemas.microsoft.com/office/drawing/2014/main" id="{699398F6-8F06-46D4-8E9F-2A7B655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6286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25" name="shape-239">
            <a:extLst xmlns:a="http://schemas.openxmlformats.org/drawingml/2006/main">
              <a:ext uri="{FF2B5EF4-FFF2-40B4-BE49-F238E27FC236}">
                <a16:creationId xmlns:a16="http://schemas.microsoft.com/office/drawing/2014/main" id="{B9C6EA32-7AC2-451B-AAFF-B755DE8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628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6" name="shape-240">
            <a:extLst xmlns:a="http://schemas.openxmlformats.org/drawingml/2006/main">
              <a:ext uri="{FF2B5EF4-FFF2-40B4-BE49-F238E27FC236}">
                <a16:creationId xmlns:a16="http://schemas.microsoft.com/office/drawing/2014/main" id="{F65007B1-8843-4998-9B45-6AF56F9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00600"/>
            <a:ext cx="6286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7" name="text-241">
            <a:extLst xmlns:a="http://schemas.openxmlformats.org/drawingml/2006/main">
              <a:ext uri="{FF2B5EF4-FFF2-40B4-BE49-F238E27FC236}">
                <a16:creationId xmlns:a16="http://schemas.microsoft.com/office/drawing/2014/main" id="{3B78E9C6-0AA9-454E-A394-5DB2C8AB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Gate：上一领域闭环通过后，再增加下一种专业复杂度</a:t>
            </a:r>
          </a:p>
        </p:txBody>
      </p:sp>
    </p:spTree>
    <p:extLst>
      <p:ext uri="{BB962C8B-B14F-4D97-AF65-F5344CB8AC3E}">
        <p14:creationId xmlns:p14="http://schemas.microsoft.com/office/powerpoint/2010/main" val="1116148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242">
            <a:extLst xmlns:a="http://schemas.openxmlformats.org/drawingml/2006/main">
              <a:ext uri="{FF2B5EF4-FFF2-40B4-BE49-F238E27FC236}">
                <a16:creationId xmlns:a16="http://schemas.microsoft.com/office/drawing/2014/main" id="{65D7D427-E7FC-474D-A15C-111C891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09｜FROM CASE TO BUSINESS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43CEF34F-224B-436B-97A2-348177B5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先形成稳定业务链，再进入真正的多 Case 管理</a:t>
            </a:r>
          </a:p>
        </p:txBody>
      </p:sp>
      <p:sp>
        <p:nvSpPr>
          <p:cNvPr id="3" name="shape-244">
            <a:extLst xmlns:a="http://schemas.openxmlformats.org/drawingml/2006/main">
              <a:ext uri="{FF2B5EF4-FFF2-40B4-BE49-F238E27FC236}">
                <a16:creationId xmlns:a16="http://schemas.microsoft.com/office/drawing/2014/main" id="{612E8C31-8D03-4EA1-AD26-489733B3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245">
            <a:extLst xmlns:a="http://schemas.openxmlformats.org/drawingml/2006/main">
              <a:ext uri="{FF2B5EF4-FFF2-40B4-BE49-F238E27FC236}">
                <a16:creationId xmlns:a16="http://schemas.microsoft.com/office/drawing/2014/main" id="{CD40F4FE-FD46-493A-8D60-E13CA0B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EA8F8681-9D45-4292-A4F8-5A63BE75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6" name="text-247">
            <a:extLst xmlns:a="http://schemas.openxmlformats.org/drawingml/2006/main">
              <a:ext uri="{FF2B5EF4-FFF2-40B4-BE49-F238E27FC236}">
                <a16:creationId xmlns:a16="http://schemas.microsoft.com/office/drawing/2014/main" id="{20AA9FC2-27B4-4CAB-B5F7-787E1AE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单笔业务链</a:t>
            </a:r>
          </a:p>
        </p:txBody>
      </p:sp>
      <p:sp>
        <p:nvSpPr>
          <p:cNvPr id="7" name="shape-248">
            <a:extLst xmlns:a="http://schemas.openxmlformats.org/drawingml/2006/main">
              <a:ext uri="{FF2B5EF4-FFF2-40B4-BE49-F238E27FC236}">
                <a16:creationId xmlns:a16="http://schemas.microsoft.com/office/drawing/2014/main" id="{EE770DDF-53E7-4469-B4C4-9F77B22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8" name="shape-249">
            <a:extLst xmlns:a="http://schemas.openxmlformats.org/drawingml/2006/main">
              <a:ext uri="{FF2B5EF4-FFF2-40B4-BE49-F238E27FC236}">
                <a16:creationId xmlns:a16="http://schemas.microsoft.com/office/drawing/2014/main" id="{4F21459A-4676-4BD4-BB54-45EE95A4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DDE7EB"/>
            </a:solidFill>
            <a:prstDash val="solid"/>
          </a:ln>
        </p:spPr>
      </p:sp>
      <p:sp>
        <p:nvSpPr>
          <p:cNvPr id="9" name="text-250">
            <a:extLst xmlns:a="http://schemas.openxmlformats.org/drawingml/2006/main">
              <a:ext uri="{FF2B5EF4-FFF2-40B4-BE49-F238E27FC236}">
                <a16:creationId xmlns:a16="http://schemas.microsoft.com/office/drawing/2014/main" id="{8048C3C0-2E1A-4DF9-9620-5A35102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商机</a:t>
            </a:r>
          </a:p>
        </p:txBody>
      </p:sp>
      <p:sp>
        <p:nvSpPr>
          <p:cNvPr id="10" name="shape-251">
            <a:extLst xmlns:a="http://schemas.openxmlformats.org/drawingml/2006/main">
              <a:ext uri="{FF2B5EF4-FFF2-40B4-BE49-F238E27FC236}">
                <a16:creationId xmlns:a16="http://schemas.microsoft.com/office/drawing/2014/main" id="{CBD588B5-35CF-4BE8-A02D-4AFECFD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765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1" name="shape-252">
            <a:extLst xmlns:a="http://schemas.openxmlformats.org/drawingml/2006/main">
              <a:ext uri="{FF2B5EF4-FFF2-40B4-BE49-F238E27FC236}">
                <a16:creationId xmlns:a16="http://schemas.microsoft.com/office/drawing/2014/main" id="{9AD5A6DA-30C5-413A-B878-FB4EA358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DDE7EB"/>
            </a:solidFill>
            <a:prstDash val="solid"/>
          </a:ln>
        </p:spPr>
      </p:sp>
      <p:sp>
        <p:nvSpPr>
          <p:cNvPr id="12" name="text-253">
            <a:extLst xmlns:a="http://schemas.openxmlformats.org/drawingml/2006/main">
              <a:ext uri="{FF2B5EF4-FFF2-40B4-BE49-F238E27FC236}">
                <a16:creationId xmlns:a16="http://schemas.microsoft.com/office/drawing/2014/main" id="{475C827A-4205-4456-BA39-83BA221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</a:t>
            </a:r>
          </a:p>
        </p:txBody>
      </p:sp>
      <p:sp>
        <p:nvSpPr>
          <p:cNvPr id="13" name="shape-254">
            <a:extLst xmlns:a="http://schemas.openxmlformats.org/drawingml/2006/main">
              <a:ext uri="{FF2B5EF4-FFF2-40B4-BE49-F238E27FC236}">
                <a16:creationId xmlns:a16="http://schemas.microsoft.com/office/drawing/2014/main" id="{13E600A8-A6F3-4ABE-B55B-4DF9543E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4" name="shape-255">
            <a:extLst xmlns:a="http://schemas.openxmlformats.org/drawingml/2006/main">
              <a:ext uri="{FF2B5EF4-FFF2-40B4-BE49-F238E27FC236}">
                <a16:creationId xmlns:a16="http://schemas.microsoft.com/office/drawing/2014/main" id="{4AA98005-E7BE-44A8-95BB-C0D7D777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15" name="text-256">
            <a:extLst xmlns:a="http://schemas.openxmlformats.org/drawingml/2006/main">
              <a:ext uri="{FF2B5EF4-FFF2-40B4-BE49-F238E27FC236}">
                <a16:creationId xmlns:a16="http://schemas.microsoft.com/office/drawing/2014/main" id="{9EC8E30F-1562-4F71-ABF9-AD785956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</a:t>
            </a:r>
          </a:p>
        </p:txBody>
      </p:sp>
      <p:sp>
        <p:nvSpPr>
          <p:cNvPr id="16" name="shape-257">
            <a:extLst xmlns:a="http://schemas.openxmlformats.org/drawingml/2006/main">
              <a:ext uri="{FF2B5EF4-FFF2-40B4-BE49-F238E27FC236}">
                <a16:creationId xmlns:a16="http://schemas.microsoft.com/office/drawing/2014/main" id="{2D007B6C-2257-4A41-9B54-E4BA3CD4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7" name="shape-258">
            <a:extLst xmlns:a="http://schemas.openxmlformats.org/drawingml/2006/main">
              <a:ext uri="{FF2B5EF4-FFF2-40B4-BE49-F238E27FC236}">
                <a16:creationId xmlns:a16="http://schemas.microsoft.com/office/drawing/2014/main" id="{D5FDDD81-4A5A-443F-ACEF-46BBA212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57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DDE7EB"/>
            </a:solidFill>
            <a:prstDash val="solid"/>
          </a:ln>
        </p:spPr>
      </p:sp>
      <p:sp>
        <p:nvSpPr>
          <p:cNvPr id="18" name="text-259">
            <a:extLst xmlns:a="http://schemas.openxmlformats.org/drawingml/2006/main">
              <a:ext uri="{FF2B5EF4-FFF2-40B4-BE49-F238E27FC236}">
                <a16:creationId xmlns:a16="http://schemas.microsoft.com/office/drawing/2014/main" id="{ECC86C71-093A-45D9-BF1C-72143014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信审</a:t>
            </a:r>
          </a:p>
        </p:txBody>
      </p:sp>
      <p:sp>
        <p:nvSpPr>
          <p:cNvPr id="19" name="shape-260">
            <a:extLst xmlns:a="http://schemas.openxmlformats.org/drawingml/2006/main">
              <a:ext uri="{FF2B5EF4-FFF2-40B4-BE49-F238E27FC236}">
                <a16:creationId xmlns:a16="http://schemas.microsoft.com/office/drawing/2014/main" id="{36BF6C66-1D54-4C5E-9025-44D603C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0" name="shape-261">
            <a:extLst xmlns:a="http://schemas.openxmlformats.org/drawingml/2006/main">
              <a:ext uri="{FF2B5EF4-FFF2-40B4-BE49-F238E27FC236}">
                <a16:creationId xmlns:a16="http://schemas.microsoft.com/office/drawing/2014/main" id="{89DCD819-DFEA-4E19-940E-EF5ABFF2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21" name="text-262">
            <a:extLst xmlns:a="http://schemas.openxmlformats.org/drawingml/2006/main">
              <a:ext uri="{FF2B5EF4-FFF2-40B4-BE49-F238E27FC236}">
                <a16:creationId xmlns:a16="http://schemas.microsoft.com/office/drawing/2014/main" id="{AAD29B49-A524-4975-8539-703D9F4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商务</a:t>
            </a:r>
          </a:p>
        </p:txBody>
      </p:sp>
      <p:sp>
        <p:nvSpPr>
          <p:cNvPr id="22" name="shape-263">
            <a:extLst xmlns:a="http://schemas.openxmlformats.org/drawingml/2006/main">
              <a:ext uri="{FF2B5EF4-FFF2-40B4-BE49-F238E27FC236}">
                <a16:creationId xmlns:a16="http://schemas.microsoft.com/office/drawing/2014/main" id="{4E7EB31A-B0C3-4FF7-861E-4FC190F2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3" name="shape-264">
            <a:extLst xmlns:a="http://schemas.openxmlformats.org/drawingml/2006/main">
              <a:ext uri="{FF2B5EF4-FFF2-40B4-BE49-F238E27FC236}">
                <a16:creationId xmlns:a16="http://schemas.microsoft.com/office/drawing/2014/main" id="{93E9844A-4A42-4728-B7E4-469C5DA0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5745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24" name="text-265">
            <a:extLst xmlns:a="http://schemas.openxmlformats.org/drawingml/2006/main">
              <a:ext uri="{FF2B5EF4-FFF2-40B4-BE49-F238E27FC236}">
                <a16:creationId xmlns:a16="http://schemas.microsoft.com/office/drawing/2014/main" id="{BCDE8C58-F3DE-4F08-9CBB-FB412342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76500"/>
            <a:ext cx="66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资产</a:t>
            </a:r>
          </a:p>
        </p:txBody>
      </p:sp>
      <p:sp>
        <p:nvSpPr>
          <p:cNvPr id="25" name="text-266">
            <a:extLst xmlns:a="http://schemas.openxmlformats.org/drawingml/2006/main">
              <a:ext uri="{FF2B5EF4-FFF2-40B4-BE49-F238E27FC236}">
                <a16:creationId xmlns:a16="http://schemas.microsoft.com/office/drawing/2014/main" id="{DE48F90F-6DA1-46FB-921E-733D3B84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147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Case：需求、Evidence、专业 Gate、Receipt、履约与结果回流</a:t>
            </a:r>
          </a:p>
        </p:txBody>
      </p:sp>
      <p:sp>
        <p:nvSpPr>
          <p:cNvPr id="26" name="text-267">
            <a:extLst xmlns:a="http://schemas.openxmlformats.org/drawingml/2006/main">
              <a:ext uri="{FF2B5EF4-FFF2-40B4-BE49-F238E27FC236}">
                <a16:creationId xmlns:a16="http://schemas.microsoft.com/office/drawing/2014/main" id="{5C4244D0-BF26-4B23-AD1A-CED2B2B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多 Case 之后，管理对象才发生变化</a:t>
            </a:r>
          </a:p>
        </p:txBody>
      </p:sp>
      <p:sp>
        <p:nvSpPr>
          <p:cNvPr id="27" name="shape-268">
            <a:extLst xmlns:a="http://schemas.openxmlformats.org/drawingml/2006/main">
              <a:ext uri="{FF2B5EF4-FFF2-40B4-BE49-F238E27FC236}">
                <a16:creationId xmlns:a16="http://schemas.microsoft.com/office/drawing/2014/main" id="{E2E43773-CDC2-48F8-8A20-B53D35B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962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28" name="text-269">
            <a:extLst xmlns:a="http://schemas.openxmlformats.org/drawingml/2006/main">
              <a:ext uri="{FF2B5EF4-FFF2-40B4-BE49-F238E27FC236}">
                <a16:creationId xmlns:a16="http://schemas.microsoft.com/office/drawing/2014/main" id="{F43E081F-2A5B-49A6-9411-89CDACA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CASE A</a:t>
            </a:r>
          </a:p>
        </p:txBody>
      </p:sp>
      <p:sp>
        <p:nvSpPr>
          <p:cNvPr id="29" name="text-270">
            <a:extLst xmlns:a="http://schemas.openxmlformats.org/drawingml/2006/main">
              <a:ext uri="{FF2B5EF4-FFF2-40B4-BE49-F238E27FC236}">
                <a16:creationId xmlns:a16="http://schemas.microsoft.com/office/drawing/2014/main" id="{278A7DBF-D6CB-45E0-ABA2-A472653C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等待补件</a:t>
            </a:r>
          </a:p>
        </p:txBody>
      </p:sp>
      <p:sp>
        <p:nvSpPr>
          <p:cNvPr id="30" name="shape-271">
            <a:extLst xmlns:a="http://schemas.openxmlformats.org/drawingml/2006/main">
              <a:ext uri="{FF2B5EF4-FFF2-40B4-BE49-F238E27FC236}">
                <a16:creationId xmlns:a16="http://schemas.microsoft.com/office/drawing/2014/main" id="{86584499-3189-450D-8DEC-67A2C405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1962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31" name="text-272">
            <a:extLst xmlns:a="http://schemas.openxmlformats.org/drawingml/2006/main">
              <a:ext uri="{FF2B5EF4-FFF2-40B4-BE49-F238E27FC236}">
                <a16:creationId xmlns:a16="http://schemas.microsoft.com/office/drawing/2014/main" id="{AD0603E6-CE15-466E-8BEE-E64CE4CE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6725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CASE B</a:t>
            </a:r>
          </a:p>
        </p:txBody>
      </p:sp>
      <p:sp>
        <p:nvSpPr>
          <p:cNvPr id="32" name="text-273">
            <a:extLst xmlns:a="http://schemas.openxmlformats.org/drawingml/2006/main">
              <a:ext uri="{FF2B5EF4-FFF2-40B4-BE49-F238E27FC236}">
                <a16:creationId xmlns:a16="http://schemas.microsoft.com/office/drawing/2014/main" id="{B4897943-C46E-46AB-A203-79DF511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2920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信审 Gate</a:t>
            </a:r>
          </a:p>
        </p:txBody>
      </p:sp>
      <p:sp>
        <p:nvSpPr>
          <p:cNvPr id="33" name="shape-274">
            <a:extLst xmlns:a="http://schemas.openxmlformats.org/drawingml/2006/main">
              <a:ext uri="{FF2B5EF4-FFF2-40B4-BE49-F238E27FC236}">
                <a16:creationId xmlns:a16="http://schemas.microsoft.com/office/drawing/2014/main" id="{D114694E-DA82-4E4A-9BD7-027AD837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76750"/>
            <a:ext cx="1962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8E2"/>
          </a:solidFill>
          <a:ln xmlns:a="http://schemas.openxmlformats.org/drawingml/2006/main" w="9525">
            <a:solidFill>
              <a:srgbClr val="587364"/>
            </a:solidFill>
            <a:prstDash val="solid"/>
          </a:ln>
        </p:spPr>
      </p:sp>
      <p:sp>
        <p:nvSpPr>
          <p:cNvPr id="34" name="text-275">
            <a:extLst xmlns:a="http://schemas.openxmlformats.org/drawingml/2006/main">
              <a:ext uri="{FF2B5EF4-FFF2-40B4-BE49-F238E27FC236}">
                <a16:creationId xmlns:a16="http://schemas.microsoft.com/office/drawing/2014/main" id="{9CD012F4-B239-43D1-B2AD-98E4D1F9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6725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CASE C</a:t>
            </a:r>
          </a:p>
        </p:txBody>
      </p:sp>
      <p:sp>
        <p:nvSpPr>
          <p:cNvPr id="35" name="text-276">
            <a:extLst xmlns:a="http://schemas.openxmlformats.org/drawingml/2006/main">
              <a:ext uri="{FF2B5EF4-FFF2-40B4-BE49-F238E27FC236}">
                <a16:creationId xmlns:a16="http://schemas.microsoft.com/office/drawing/2014/main" id="{8140ED4D-3C8B-46E1-845B-7F64F661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29200"/>
            <a:ext cx="154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资产履约</a:t>
            </a:r>
          </a:p>
        </p:txBody>
      </p:sp>
      <p:sp>
        <p:nvSpPr>
          <p:cNvPr id="36" name="shape-277">
            <a:extLst xmlns:a="http://schemas.openxmlformats.org/drawingml/2006/main">
              <a:ext uri="{FF2B5EF4-FFF2-40B4-BE49-F238E27FC236}">
                <a16:creationId xmlns:a16="http://schemas.microsoft.com/office/drawing/2014/main" id="{4A7632F0-3B48-4E31-9B5F-FC68805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577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185"/>
          </a:solidFill>
          <a:ln xmlns:a="http://schemas.openxmlformats.org/drawingml/2006/main" w="0">
            <a:solidFill>
              <a:srgbClr val="4E7185"/>
            </a:solidFill>
            <a:prstDash val="solid"/>
          </a:ln>
        </p:spPr>
      </p:sp>
      <p:sp>
        <p:nvSpPr>
          <p:cNvPr id="37" name="shape-278">
            <a:extLst xmlns:a="http://schemas.openxmlformats.org/drawingml/2006/main">
              <a:ext uri="{FF2B5EF4-FFF2-40B4-BE49-F238E27FC236}">
                <a16:creationId xmlns:a16="http://schemas.microsoft.com/office/drawing/2014/main" id="{7D3B8A48-3D8F-42BA-A52F-9C592F7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3333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38" name="text-279">
            <a:extLst xmlns:a="http://schemas.openxmlformats.org/drawingml/2006/main">
              <a:ext uri="{FF2B5EF4-FFF2-40B4-BE49-F238E27FC236}">
                <a16:creationId xmlns:a16="http://schemas.microsoft.com/office/drawing/2014/main" id="{FD07B895-D689-4DD1-BF60-291BA40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3390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管理循环</a:t>
            </a:r>
          </a:p>
        </p:txBody>
      </p:sp>
      <p:sp>
        <p:nvSpPr>
          <p:cNvPr id="39" name="text-280">
            <a:extLst xmlns:a="http://schemas.openxmlformats.org/drawingml/2006/main">
              <a:ext uri="{FF2B5EF4-FFF2-40B4-BE49-F238E27FC236}">
                <a16:creationId xmlns:a16="http://schemas.microsoft.com/office/drawing/2014/main" id="{444D8344-FCC4-48AB-96DA-D402E2A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偏差 · 等待 · 责任 · 返工
经营影响 · 资源配置</a:t>
            </a:r>
          </a:p>
        </p:txBody>
      </p:sp>
    </p:spTree>
    <p:extLst>
      <p:ext uri="{BB962C8B-B14F-4D97-AF65-F5344CB8AC3E}">
        <p14:creationId xmlns:p14="http://schemas.microsoft.com/office/powerpoint/2010/main" val="1691867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281">
            <a:extLst xmlns:a="http://schemas.openxmlformats.org/drawingml/2006/main">
              <a:ext uri="{FF2B5EF4-FFF2-40B4-BE49-F238E27FC236}">
                <a16:creationId xmlns:a16="http://schemas.microsoft.com/office/drawing/2014/main" id="{92C009D8-A692-415A-B3FE-E172234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10｜CONTROLLED CONNECTION</a:t>
            </a:r>
          </a:p>
        </p:txBody>
      </p:sp>
      <p:sp>
        <p:nvSpPr>
          <p:cNvPr id="2" name="text-282">
            <a:extLst xmlns:a="http://schemas.openxmlformats.org/drawingml/2006/main">
              <a:ext uri="{FF2B5EF4-FFF2-40B4-BE49-F238E27FC236}">
                <a16:creationId xmlns:a16="http://schemas.microsoft.com/office/drawing/2014/main" id="{FA91D017-603E-47FC-9210-231A3AC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真实系统和真实组织，只能按风险逐级接入</a:t>
            </a:r>
          </a:p>
        </p:txBody>
      </p:sp>
      <p:sp>
        <p:nvSpPr>
          <p:cNvPr id="3" name="shape-283">
            <a:extLst xmlns:a="http://schemas.openxmlformats.org/drawingml/2006/main">
              <a:ext uri="{FF2B5EF4-FFF2-40B4-BE49-F238E27FC236}">
                <a16:creationId xmlns:a16="http://schemas.microsoft.com/office/drawing/2014/main" id="{3640DB5C-A9C1-444B-B07D-57EE601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284">
            <a:extLst xmlns:a="http://schemas.openxmlformats.org/drawingml/2006/main">
              <a:ext uri="{FF2B5EF4-FFF2-40B4-BE49-F238E27FC236}">
                <a16:creationId xmlns:a16="http://schemas.microsoft.com/office/drawing/2014/main" id="{EF6206D3-2DD7-4A99-B6F8-A02CF7B2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5C74B45F-AF09-4B1B-A812-FDD5591F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6" name="shape-286">
            <a:extLst xmlns:a="http://schemas.openxmlformats.org/drawingml/2006/main">
              <a:ext uri="{FF2B5EF4-FFF2-40B4-BE49-F238E27FC236}">
                <a16:creationId xmlns:a16="http://schemas.microsoft.com/office/drawing/2014/main" id="{66405ADC-EAF7-4975-990D-28EDAAD4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95400"/>
            <a:ext cx="3352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EEE3D1"/>
            </a:solidFill>
            <a:prstDash val="solid"/>
          </a:ln>
        </p:spPr>
      </p:sp>
      <p:sp>
        <p:nvSpPr>
          <p:cNvPr id="7" name="text-287">
            <a:extLst xmlns:a="http://schemas.openxmlformats.org/drawingml/2006/main">
              <a:ext uri="{FF2B5EF4-FFF2-40B4-BE49-F238E27FC236}">
                <a16:creationId xmlns:a16="http://schemas.microsoft.com/office/drawing/2014/main" id="{F56E003E-1E6C-4FFB-AF19-1340340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14450"/>
            <a:ext cx="335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候选接入路径｜待系统与数据调研</a:t>
            </a:r>
          </a:p>
        </p:txBody>
      </p:sp>
      <p:sp>
        <p:nvSpPr>
          <p:cNvPr id="8" name="shape-288">
            <a:extLst xmlns:a="http://schemas.openxmlformats.org/drawingml/2006/main">
              <a:ext uri="{FF2B5EF4-FFF2-40B4-BE49-F238E27FC236}">
                <a16:creationId xmlns:a16="http://schemas.microsoft.com/office/drawing/2014/main" id="{9B9B2260-AD07-491E-9F99-40AA968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9240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9" name="text-289">
            <a:extLst xmlns:a="http://schemas.openxmlformats.org/drawingml/2006/main">
              <a:ext uri="{FF2B5EF4-FFF2-40B4-BE49-F238E27FC236}">
                <a16:creationId xmlns:a16="http://schemas.microsoft.com/office/drawing/2014/main" id="{E0B8DC45-7302-436D-A4B1-0DD0DA2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0" name="text-290">
            <a:extLst xmlns:a="http://schemas.openxmlformats.org/drawingml/2006/main">
              <a:ext uri="{FF2B5EF4-FFF2-40B4-BE49-F238E27FC236}">
                <a16:creationId xmlns:a16="http://schemas.microsoft.com/office/drawing/2014/main" id="{11CF542A-0EF0-492A-8395-1813D23B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本地合成</a:t>
            </a:r>
          </a:p>
        </p:txBody>
      </p:sp>
      <p:sp>
        <p:nvSpPr>
          <p:cNvPr id="11" name="text-291">
            <a:extLst xmlns:a="http://schemas.openxmlformats.org/drawingml/2006/main">
              <a:ext uri="{FF2B5EF4-FFF2-40B4-BE49-F238E27FC236}">
                <a16:creationId xmlns:a16="http://schemas.microsoft.com/office/drawing/2014/main" id="{2570B395-96DA-46A3-A646-CAB9DAE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 synthetic
验证语义与闭环</a:t>
            </a:r>
          </a:p>
        </p:txBody>
      </p:sp>
      <p:sp>
        <p:nvSpPr>
          <p:cNvPr id="12" name="shape-292">
            <a:extLst xmlns:a="http://schemas.openxmlformats.org/drawingml/2006/main">
              <a:ext uri="{FF2B5EF4-FFF2-40B4-BE49-F238E27FC236}">
                <a16:creationId xmlns:a16="http://schemas.microsoft.com/office/drawing/2014/main" id="{18CEE30D-8303-4612-8375-0E2E606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49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3" name="shape-293">
            <a:extLst xmlns:a="http://schemas.openxmlformats.org/drawingml/2006/main">
              <a:ext uri="{FF2B5EF4-FFF2-40B4-BE49-F238E27FC236}">
                <a16:creationId xmlns:a16="http://schemas.microsoft.com/office/drawing/2014/main" id="{2784E3B1-6505-4F59-8A11-0DD66C4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19240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4" name="text-294">
            <a:extLst xmlns:a="http://schemas.openxmlformats.org/drawingml/2006/main">
              <a:ext uri="{FF2B5EF4-FFF2-40B4-BE49-F238E27FC236}">
                <a16:creationId xmlns:a16="http://schemas.microsoft.com/office/drawing/2014/main" id="{E816AF0A-1459-4BBB-8745-2FB55D4B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624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5" name="text-295">
            <a:extLst xmlns:a="http://schemas.openxmlformats.org/drawingml/2006/main">
              <a:ext uri="{FF2B5EF4-FFF2-40B4-BE49-F238E27FC236}">
                <a16:creationId xmlns:a16="http://schemas.microsoft.com/office/drawing/2014/main" id="{02E1EA81-8129-4B51-80B0-7AE6BBF6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053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只读接入</a:t>
            </a:r>
          </a:p>
        </p:txBody>
      </p:sp>
      <p:sp>
        <p:nvSpPr>
          <p:cNvPr id="16" name="text-296">
            <a:extLst xmlns:a="http://schemas.openxmlformats.org/drawingml/2006/main">
              <a:ext uri="{FF2B5EF4-FFF2-40B4-BE49-F238E27FC236}">
                <a16:creationId xmlns:a16="http://schemas.microsoft.com/office/drawing/2014/main" id="{8707995D-7FB9-4C79-8CC0-C4332269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Read-only
核对字段与权限</a:t>
            </a:r>
          </a:p>
        </p:txBody>
      </p:sp>
      <p:sp>
        <p:nvSpPr>
          <p:cNvPr id="17" name="shape-297">
            <a:extLst xmlns:a="http://schemas.openxmlformats.org/drawingml/2006/main">
              <a:ext uri="{FF2B5EF4-FFF2-40B4-BE49-F238E27FC236}">
                <a16:creationId xmlns:a16="http://schemas.microsoft.com/office/drawing/2014/main" id="{DCBC158C-3E49-4797-AE1C-657C7AF7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8" name="shape-298">
            <a:extLst xmlns:a="http://schemas.openxmlformats.org/drawingml/2006/main">
              <a:ext uri="{FF2B5EF4-FFF2-40B4-BE49-F238E27FC236}">
                <a16:creationId xmlns:a16="http://schemas.microsoft.com/office/drawing/2014/main" id="{19B8ADA1-0AC9-4600-ACE4-B9DAAB5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9240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9" name="text-299">
            <a:extLst xmlns:a="http://schemas.openxmlformats.org/drawingml/2006/main">
              <a:ext uri="{FF2B5EF4-FFF2-40B4-BE49-F238E27FC236}">
                <a16:creationId xmlns:a16="http://schemas.microsoft.com/office/drawing/2014/main" id="{1BE8A4F7-F5BA-484E-8D8E-1974E3AC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300">
            <a:extLst xmlns:a="http://schemas.openxmlformats.org/drawingml/2006/main">
              <a:ext uri="{FF2B5EF4-FFF2-40B4-BE49-F238E27FC236}">
                <a16:creationId xmlns:a16="http://schemas.microsoft.com/office/drawing/2014/main" id="{6C0D9B25-32AB-42F5-A648-548011D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576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旁路运行</a:t>
            </a:r>
          </a:p>
        </p:txBody>
      </p:sp>
      <p:sp>
        <p:nvSpPr>
          <p:cNvPr id="21" name="text-301">
            <a:extLst xmlns:a="http://schemas.openxmlformats.org/drawingml/2006/main">
              <a:ext uri="{FF2B5EF4-FFF2-40B4-BE49-F238E27FC236}">
                <a16:creationId xmlns:a16="http://schemas.microsoft.com/office/drawing/2014/main" id="{5CF36EED-F37E-4888-A043-320A74F6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95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Shadow
不影响正式结果</a:t>
            </a:r>
          </a:p>
        </p:txBody>
      </p:sp>
      <p:sp>
        <p:nvSpPr>
          <p:cNvPr id="22" name="shape-302">
            <a:extLst xmlns:a="http://schemas.openxmlformats.org/drawingml/2006/main">
              <a:ext uri="{FF2B5EF4-FFF2-40B4-BE49-F238E27FC236}">
                <a16:creationId xmlns:a16="http://schemas.microsoft.com/office/drawing/2014/main" id="{56292004-68D7-4165-A86A-024A99C9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3" name="shape-303">
            <a:extLst xmlns:a="http://schemas.openxmlformats.org/drawingml/2006/main">
              <a:ext uri="{FF2B5EF4-FFF2-40B4-BE49-F238E27FC236}">
                <a16:creationId xmlns:a16="http://schemas.microsoft.com/office/drawing/2014/main" id="{B865E955-DEF2-4029-9CEE-0A9E1D60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9240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24" name="text-304">
            <a:extLst xmlns:a="http://schemas.openxmlformats.org/drawingml/2006/main">
              <a:ext uri="{FF2B5EF4-FFF2-40B4-BE49-F238E27FC236}">
                <a16:creationId xmlns:a16="http://schemas.microsoft.com/office/drawing/2014/main" id="{A20CDE9D-9D1C-4593-B5D5-F61D4F76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5" name="text-305">
            <a:extLst xmlns:a="http://schemas.openxmlformats.org/drawingml/2006/main">
              <a:ext uri="{FF2B5EF4-FFF2-40B4-BE49-F238E27FC236}">
                <a16:creationId xmlns:a16="http://schemas.microsoft.com/office/drawing/2014/main" id="{C69A8153-5671-4FC4-AAC3-A42F461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受控写入</a:t>
            </a:r>
          </a:p>
        </p:txBody>
      </p:sp>
      <p:sp>
        <p:nvSpPr>
          <p:cNvPr id="26" name="text-306">
            <a:extLst xmlns:a="http://schemas.openxmlformats.org/drawingml/2006/main">
              <a:ext uri="{FF2B5EF4-FFF2-40B4-BE49-F238E27FC236}">
                <a16:creationId xmlns:a16="http://schemas.microsoft.com/office/drawing/2014/main" id="{64623DCB-26E4-490E-8336-B27064C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Controlled write
Human Gate 下执行</a:t>
            </a:r>
          </a:p>
        </p:txBody>
      </p:sp>
      <p:sp>
        <p:nvSpPr>
          <p:cNvPr id="27" name="shape-307">
            <a:extLst xmlns:a="http://schemas.openxmlformats.org/drawingml/2006/main">
              <a:ext uri="{FF2B5EF4-FFF2-40B4-BE49-F238E27FC236}">
                <a16:creationId xmlns:a16="http://schemas.microsoft.com/office/drawing/2014/main" id="{5D662314-A78B-49F5-8F70-51453A29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8" name="shape-308">
            <a:extLst xmlns:a="http://schemas.openxmlformats.org/drawingml/2006/main">
              <a:ext uri="{FF2B5EF4-FFF2-40B4-BE49-F238E27FC236}">
                <a16:creationId xmlns:a16="http://schemas.microsoft.com/office/drawing/2014/main" id="{5A760E0B-0A47-42E1-9F66-BA2FF9E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47850"/>
            <a:ext cx="19240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DE7EB"/>
          </a:solidFill>
          <a:ln xmlns:a="http://schemas.openxmlformats.org/drawingml/2006/main" w="9525">
            <a:solidFill>
              <a:srgbClr val="4E7185"/>
            </a:solidFill>
            <a:prstDash val="solid"/>
          </a:ln>
        </p:spPr>
      </p:sp>
      <p:sp>
        <p:nvSpPr>
          <p:cNvPr id="29" name="text-309">
            <a:extLst xmlns:a="http://schemas.openxmlformats.org/drawingml/2006/main">
              <a:ext uri="{FF2B5EF4-FFF2-40B4-BE49-F238E27FC236}">
                <a16:creationId xmlns:a16="http://schemas.microsoft.com/office/drawing/2014/main" id="{21FD6E66-CC03-4235-BC76-2AF655C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0" name="text-310">
            <a:extLst xmlns:a="http://schemas.openxmlformats.org/drawingml/2006/main">
              <a:ext uri="{FF2B5EF4-FFF2-40B4-BE49-F238E27FC236}">
                <a16:creationId xmlns:a16="http://schemas.microsoft.com/office/drawing/2014/main" id="{EA942EE2-ACF2-4E6E-8836-B7C7397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小范围试点</a:t>
            </a:r>
          </a:p>
        </p:txBody>
      </p:sp>
      <p:sp>
        <p:nvSpPr>
          <p:cNvPr id="31" name="text-311">
            <a:extLst xmlns:a="http://schemas.openxmlformats.org/drawingml/2006/main">
              <a:ext uri="{FF2B5EF4-FFF2-40B4-BE49-F238E27FC236}">
                <a16:creationId xmlns:a16="http://schemas.microsoft.com/office/drawing/2014/main" id="{373FC0B5-B407-4B6F-85FC-5BC8212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241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Pilot
价值与风险测量</a:t>
            </a:r>
          </a:p>
        </p:txBody>
      </p:sp>
      <p:sp>
        <p:nvSpPr>
          <p:cNvPr id="32" name="shape-312">
            <a:extLst xmlns:a="http://schemas.openxmlformats.org/drawingml/2006/main">
              <a:ext uri="{FF2B5EF4-FFF2-40B4-BE49-F238E27FC236}">
                <a16:creationId xmlns:a16="http://schemas.microsoft.com/office/drawing/2014/main" id="{5C911889-EF73-49FF-BE4B-2E6FF09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33" name="text-313">
            <a:extLst xmlns:a="http://schemas.openxmlformats.org/drawingml/2006/main">
              <a:ext uri="{FF2B5EF4-FFF2-40B4-BE49-F238E27FC236}">
                <a16:creationId xmlns:a16="http://schemas.microsoft.com/office/drawing/2014/main" id="{C8FB0083-DC31-467E-9F91-A7B446CE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每一级重新确认：身份权限 · 数据权属 · 失败关闭 · Receipt · 回滚 · 观测</a:t>
            </a:r>
          </a:p>
        </p:txBody>
      </p:sp>
    </p:spTree>
    <p:extLst>
      <p:ext uri="{BB962C8B-B14F-4D97-AF65-F5344CB8AC3E}">
        <p14:creationId xmlns:p14="http://schemas.microsoft.com/office/powerpoint/2010/main" val="1256851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314">
            <a:extLst xmlns:a="http://schemas.openxmlformats.org/drawingml/2006/main">
              <a:ext uri="{FF2B5EF4-FFF2-40B4-BE49-F238E27FC236}">
                <a16:creationId xmlns:a16="http://schemas.microsoft.com/office/drawing/2014/main" id="{D5C4DE11-4F3B-4D47-A562-02E37C55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11｜PHASED ENGINEERING</a:t>
            </a:r>
          </a:p>
        </p:txBody>
      </p:sp>
      <p:sp>
        <p:nvSpPr>
          <p:cNvPr id="2" name="text-315">
            <a:extLst xmlns:a="http://schemas.openxmlformats.org/drawingml/2006/main">
              <a:ext uri="{FF2B5EF4-FFF2-40B4-BE49-F238E27FC236}">
                <a16:creationId xmlns:a16="http://schemas.microsoft.com/office/drawing/2014/main" id="{0013C766-E1E6-4799-BCFF-F1C99C97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P0–P5：每一期只增加一个主要复杂度</a:t>
            </a:r>
          </a:p>
        </p:txBody>
      </p:sp>
      <p:sp>
        <p:nvSpPr>
          <p:cNvPr id="3" name="shape-316">
            <a:extLst xmlns:a="http://schemas.openxmlformats.org/drawingml/2006/main">
              <a:ext uri="{FF2B5EF4-FFF2-40B4-BE49-F238E27FC236}">
                <a16:creationId xmlns:a16="http://schemas.microsoft.com/office/drawing/2014/main" id="{E8531CF7-BD49-482E-8C32-28A0A0D1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317">
            <a:extLst xmlns:a="http://schemas.openxmlformats.org/drawingml/2006/main">
              <a:ext uri="{FF2B5EF4-FFF2-40B4-BE49-F238E27FC236}">
                <a16:creationId xmlns:a16="http://schemas.microsoft.com/office/drawing/2014/main" id="{79D46204-5A15-480A-AA67-B65E1A2F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318">
            <a:extLst xmlns:a="http://schemas.openxmlformats.org/drawingml/2006/main">
              <a:ext uri="{FF2B5EF4-FFF2-40B4-BE49-F238E27FC236}">
                <a16:creationId xmlns:a16="http://schemas.microsoft.com/office/drawing/2014/main" id="{6973E846-5DCC-4538-98C8-F7139A2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6" name="text-319">
            <a:extLst xmlns:a="http://schemas.openxmlformats.org/drawingml/2006/main">
              <a:ext uri="{FF2B5EF4-FFF2-40B4-BE49-F238E27FC236}">
                <a16:creationId xmlns:a16="http://schemas.microsoft.com/office/drawing/2014/main" id="{7435C55E-9FB2-4937-97FA-70744AE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P0</a:t>
            </a:r>
          </a:p>
        </p:txBody>
      </p:sp>
      <p:sp>
        <p:nvSpPr>
          <p:cNvPr id="7" name="shape-320">
            <a:extLst xmlns:a="http://schemas.openxmlformats.org/drawingml/2006/main">
              <a:ext uri="{FF2B5EF4-FFF2-40B4-BE49-F238E27FC236}">
                <a16:creationId xmlns:a16="http://schemas.microsoft.com/office/drawing/2014/main" id="{055320B3-0492-458C-B7D5-D38B565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0"/>
          </a:solidFill>
          <a:ln xmlns:a="http://schemas.openxmlformats.org/drawingml/2006/main" w="0">
            <a:solidFill>
              <a:srgbClr val="5D6870"/>
            </a:solidFill>
            <a:prstDash val="solid"/>
          </a:ln>
        </p:spPr>
      </p:sp>
      <p:sp>
        <p:nvSpPr>
          <p:cNvPr id="8" name="text-321">
            <a:extLst xmlns:a="http://schemas.openxmlformats.org/drawingml/2006/main">
              <a:ext uri="{FF2B5EF4-FFF2-40B4-BE49-F238E27FC236}">
                <a16:creationId xmlns:a16="http://schemas.microsoft.com/office/drawing/2014/main" id="{7B4DECF7-25C6-443E-A6D6-F0A1C20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认知地图</a:t>
            </a:r>
          </a:p>
        </p:txBody>
      </p:sp>
      <p:sp>
        <p:nvSpPr>
          <p:cNvPr id="9" name="text-322">
            <a:extLst xmlns:a="http://schemas.openxmlformats.org/drawingml/2006/main">
              <a:ext uri="{FF2B5EF4-FFF2-40B4-BE49-F238E27FC236}">
                <a16:creationId xmlns:a16="http://schemas.microsoft.com/office/drawing/2014/main" id="{D04F4740-3519-4BB3-AC2F-4611EA5E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终局 · 边界 · 未知
历史隔离 · 第一试验</a:t>
            </a:r>
          </a:p>
        </p:txBody>
      </p:sp>
      <p:sp>
        <p:nvSpPr>
          <p:cNvPr id="10" name="shape-323">
            <a:extLst xmlns:a="http://schemas.openxmlformats.org/drawingml/2006/main">
              <a:ext uri="{FF2B5EF4-FFF2-40B4-BE49-F238E27FC236}">
                <a16:creationId xmlns:a16="http://schemas.microsoft.com/office/drawing/2014/main" id="{5C1F7873-7061-4E57-B05D-E3A19FA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8130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1" name="text-324">
            <a:extLst xmlns:a="http://schemas.openxmlformats.org/drawingml/2006/main">
              <a:ext uri="{FF2B5EF4-FFF2-40B4-BE49-F238E27FC236}">
                <a16:creationId xmlns:a16="http://schemas.microsoft.com/office/drawing/2014/main" id="{A39A2D85-AB9F-479D-89EA-EEBF2573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P1</a:t>
            </a:r>
          </a:p>
        </p:txBody>
      </p:sp>
      <p:sp>
        <p:nvSpPr>
          <p:cNvPr id="12" name="shape-325">
            <a:extLst xmlns:a="http://schemas.openxmlformats.org/drawingml/2006/main">
              <a:ext uri="{FF2B5EF4-FFF2-40B4-BE49-F238E27FC236}">
                <a16:creationId xmlns:a16="http://schemas.microsoft.com/office/drawing/2014/main" id="{3363B77E-2884-4459-9243-3B1449D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367"/>
          </a:solidFill>
          <a:ln xmlns:a="http://schemas.openxmlformats.org/drawingml/2006/main" w="0">
            <a:solidFill>
              <a:srgbClr val="2F5367"/>
            </a:solidFill>
            <a:prstDash val="solid"/>
          </a:ln>
        </p:spPr>
      </p:sp>
      <p:sp>
        <p:nvSpPr>
          <p:cNvPr id="13" name="text-326">
            <a:extLst xmlns:a="http://schemas.openxmlformats.org/drawingml/2006/main">
              <a:ext uri="{FF2B5EF4-FFF2-40B4-BE49-F238E27FC236}">
                <a16:creationId xmlns:a16="http://schemas.microsoft.com/office/drawing/2014/main" id="{826C177E-964E-40D0-B28D-E44D1B6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信审活细胞</a:t>
            </a:r>
          </a:p>
        </p:txBody>
      </p:sp>
      <p:sp>
        <p:nvSpPr>
          <p:cNvPr id="14" name="text-327">
            <a:extLst xmlns:a="http://schemas.openxmlformats.org/drawingml/2006/main">
              <a:ext uri="{FF2B5EF4-FFF2-40B4-BE49-F238E27FC236}">
                <a16:creationId xmlns:a16="http://schemas.microsoft.com/office/drawing/2014/main" id="{1810591D-5E45-4F32-A2C4-322B63E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 + 管理 + 改进
最小闭环</a:t>
            </a:r>
          </a:p>
        </p:txBody>
      </p:sp>
      <p:sp>
        <p:nvSpPr>
          <p:cNvPr id="15" name="shape-328">
            <a:extLst xmlns:a="http://schemas.openxmlformats.org/drawingml/2006/main">
              <a:ext uri="{FF2B5EF4-FFF2-40B4-BE49-F238E27FC236}">
                <a16:creationId xmlns:a16="http://schemas.microsoft.com/office/drawing/2014/main" id="{C458537E-4D8C-483E-A386-13078A69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16" name="text-329">
            <a:extLst xmlns:a="http://schemas.openxmlformats.org/drawingml/2006/main">
              <a:ext uri="{FF2B5EF4-FFF2-40B4-BE49-F238E27FC236}">
                <a16:creationId xmlns:a16="http://schemas.microsoft.com/office/drawing/2014/main" id="{DB173F78-0B75-421B-A69B-14D373FD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P2</a:t>
            </a:r>
          </a:p>
        </p:txBody>
      </p:sp>
      <p:sp>
        <p:nvSpPr>
          <p:cNvPr id="17" name="shape-330">
            <a:extLst xmlns:a="http://schemas.openxmlformats.org/drawingml/2006/main">
              <a:ext uri="{FF2B5EF4-FFF2-40B4-BE49-F238E27FC236}">
                <a16:creationId xmlns:a16="http://schemas.microsoft.com/office/drawing/2014/main" id="{7921A0A1-897F-40C9-BBC4-0889E924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367"/>
          </a:solidFill>
          <a:ln xmlns:a="http://schemas.openxmlformats.org/drawingml/2006/main" w="0">
            <a:solidFill>
              <a:srgbClr val="2F5367"/>
            </a:solidFill>
            <a:prstDash val="solid"/>
          </a:ln>
        </p:spPr>
      </p:sp>
      <p:sp>
        <p:nvSpPr>
          <p:cNvPr id="18" name="text-331">
            <a:extLst xmlns:a="http://schemas.openxmlformats.org/drawingml/2006/main">
              <a:ext uri="{FF2B5EF4-FFF2-40B4-BE49-F238E27FC236}">
                <a16:creationId xmlns:a16="http://schemas.microsoft.com/office/drawing/2014/main" id="{5570A655-47E8-4A4E-8840-C78F0C4E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大风控组织</a:t>
            </a:r>
          </a:p>
        </p:txBody>
      </p:sp>
      <p:sp>
        <p:nvSpPr>
          <p:cNvPr id="19" name="text-332">
            <a:extLst xmlns:a="http://schemas.openxmlformats.org/drawingml/2006/main">
              <a:ext uri="{FF2B5EF4-FFF2-40B4-BE49-F238E27FC236}">
                <a16:creationId xmlns:a16="http://schemas.microsoft.com/office/drawing/2014/main" id="{A2C58C2D-1AA8-4BDB-8D43-839AF96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政策 · 商务 · 资产
逐域确认边界</a:t>
            </a:r>
          </a:p>
        </p:txBody>
      </p:sp>
      <p:sp>
        <p:nvSpPr>
          <p:cNvPr id="20" name="shape-333">
            <a:extLst xmlns:a="http://schemas.openxmlformats.org/drawingml/2006/main">
              <a:ext uri="{FF2B5EF4-FFF2-40B4-BE49-F238E27FC236}">
                <a16:creationId xmlns:a16="http://schemas.microsoft.com/office/drawing/2014/main" id="{07EBFC1A-31AF-4FEF-82CC-14C6CA5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8130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1" name="text-334">
            <a:extLst xmlns:a="http://schemas.openxmlformats.org/drawingml/2006/main">
              <a:ext uri="{FF2B5EF4-FFF2-40B4-BE49-F238E27FC236}">
                <a16:creationId xmlns:a16="http://schemas.microsoft.com/office/drawing/2014/main" id="{DB41CD56-7BD4-44EE-BC73-F4A4DFD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P3</a:t>
            </a:r>
          </a:p>
        </p:txBody>
      </p:sp>
      <p:sp>
        <p:nvSpPr>
          <p:cNvPr id="22" name="shape-335">
            <a:extLst xmlns:a="http://schemas.openxmlformats.org/drawingml/2006/main">
              <a:ext uri="{FF2B5EF4-FFF2-40B4-BE49-F238E27FC236}">
                <a16:creationId xmlns:a16="http://schemas.microsoft.com/office/drawing/2014/main" id="{3D6E8457-1869-452C-BAB8-AB130F3C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367"/>
          </a:solidFill>
          <a:ln xmlns:a="http://schemas.openxmlformats.org/drawingml/2006/main" w="0">
            <a:solidFill>
              <a:srgbClr val="2F5367"/>
            </a:solidFill>
            <a:prstDash val="solid"/>
          </a:ln>
        </p:spPr>
      </p:sp>
      <p:sp>
        <p:nvSpPr>
          <p:cNvPr id="23" name="text-336">
            <a:extLst xmlns:a="http://schemas.openxmlformats.org/drawingml/2006/main">
              <a:ext uri="{FF2B5EF4-FFF2-40B4-BE49-F238E27FC236}">
                <a16:creationId xmlns:a16="http://schemas.microsoft.com/office/drawing/2014/main" id="{7A72DFC4-761A-461A-8215-620DB28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小微业务体系</a:t>
            </a:r>
          </a:p>
        </p:txBody>
      </p:sp>
      <p:sp>
        <p:nvSpPr>
          <p:cNvPr id="24" name="text-337">
            <a:extLst xmlns:a="http://schemas.openxmlformats.org/drawingml/2006/main">
              <a:ext uri="{FF2B5EF4-FFF2-40B4-BE49-F238E27FC236}">
                <a16:creationId xmlns:a16="http://schemas.microsoft.com/office/drawing/2014/main" id="{D2373FD8-8042-4B3F-A4C9-5DA3A013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商机 + 业务 + 大风控
多 Case 管理</a:t>
            </a:r>
          </a:p>
        </p:txBody>
      </p:sp>
      <p:sp>
        <p:nvSpPr>
          <p:cNvPr id="25" name="shape-338">
            <a:extLst xmlns:a="http://schemas.openxmlformats.org/drawingml/2006/main">
              <a:ext uri="{FF2B5EF4-FFF2-40B4-BE49-F238E27FC236}">
                <a16:creationId xmlns:a16="http://schemas.microsoft.com/office/drawing/2014/main" id="{F3704179-5892-44F2-895D-D6C5EE1F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26" name="text-339">
            <a:extLst xmlns:a="http://schemas.openxmlformats.org/drawingml/2006/main">
              <a:ext uri="{FF2B5EF4-FFF2-40B4-BE49-F238E27FC236}">
                <a16:creationId xmlns:a16="http://schemas.microsoft.com/office/drawing/2014/main" id="{110D01A2-EDDD-4A1A-B4D1-810A25EF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P4</a:t>
            </a:r>
          </a:p>
        </p:txBody>
      </p:sp>
      <p:sp>
        <p:nvSpPr>
          <p:cNvPr id="27" name="shape-340">
            <a:extLst xmlns:a="http://schemas.openxmlformats.org/drawingml/2006/main">
              <a:ext uri="{FF2B5EF4-FFF2-40B4-BE49-F238E27FC236}">
                <a16:creationId xmlns:a16="http://schemas.microsoft.com/office/drawing/2014/main" id="{A16CEA73-547F-45A7-A86F-626B9E5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043"/>
          </a:solidFill>
          <a:ln xmlns:a="http://schemas.openxmlformats.org/drawingml/2006/main" w="0">
            <a:solidFill>
              <a:srgbClr val="A98043"/>
            </a:solidFill>
            <a:prstDash val="solid"/>
          </a:ln>
        </p:spPr>
      </p:sp>
      <p:sp>
        <p:nvSpPr>
          <p:cNvPr id="28" name="text-341">
            <a:extLst xmlns:a="http://schemas.openxmlformats.org/drawingml/2006/main">
              <a:ext uri="{FF2B5EF4-FFF2-40B4-BE49-F238E27FC236}">
                <a16:creationId xmlns:a16="http://schemas.microsoft.com/office/drawing/2014/main" id="{78C3906C-B07D-44F1-86CA-2F1435C9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企业真实试点</a:t>
            </a:r>
          </a:p>
        </p:txBody>
      </p:sp>
      <p:sp>
        <p:nvSpPr>
          <p:cNvPr id="29" name="text-342">
            <a:extLst xmlns:a="http://schemas.openxmlformats.org/drawingml/2006/main">
              <a:ext uri="{FF2B5EF4-FFF2-40B4-BE49-F238E27FC236}">
                <a16:creationId xmlns:a16="http://schemas.microsoft.com/office/drawing/2014/main" id="{C8EDEE38-4E7F-4D4D-AD84-AB3C7FC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真实人员与系统
受控 Adapter</a:t>
            </a:r>
          </a:p>
        </p:txBody>
      </p:sp>
      <p:sp>
        <p:nvSpPr>
          <p:cNvPr id="30" name="shape-343">
            <a:extLst xmlns:a="http://schemas.openxmlformats.org/drawingml/2006/main">
              <a:ext uri="{FF2B5EF4-FFF2-40B4-BE49-F238E27FC236}">
                <a16:creationId xmlns:a16="http://schemas.microsoft.com/office/drawing/2014/main" id="{EB809B6A-470E-4649-98C4-0786BDC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0C2"/>
          </a:solidFill>
          <a:ln xmlns:a="http://schemas.openxmlformats.org/drawingml/2006/main" w="0">
            <a:solidFill>
              <a:srgbClr val="B9C0C2"/>
            </a:solidFill>
            <a:prstDash val="solid"/>
          </a:ln>
        </p:spPr>
      </p:sp>
      <p:sp>
        <p:nvSpPr>
          <p:cNvPr id="31" name="text-344">
            <a:extLst xmlns:a="http://schemas.openxmlformats.org/drawingml/2006/main">
              <a:ext uri="{FF2B5EF4-FFF2-40B4-BE49-F238E27FC236}">
                <a16:creationId xmlns:a16="http://schemas.microsoft.com/office/drawing/2014/main" id="{B4C414FC-FDA8-432D-AF7E-26E8FB1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859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P5</a:t>
            </a:r>
          </a:p>
        </p:txBody>
      </p:sp>
      <p:sp>
        <p:nvSpPr>
          <p:cNvPr id="32" name="shape-345">
            <a:extLst xmlns:a="http://schemas.openxmlformats.org/drawingml/2006/main">
              <a:ext uri="{FF2B5EF4-FFF2-40B4-BE49-F238E27FC236}">
                <a16:creationId xmlns:a16="http://schemas.microsoft.com/office/drawing/2014/main" id="{5EE35435-EE8C-4386-AAD2-F165E524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364"/>
          </a:solidFill>
          <a:ln xmlns:a="http://schemas.openxmlformats.org/drawingml/2006/main" w="0">
            <a:solidFill>
              <a:srgbClr val="587364"/>
            </a:solidFill>
            <a:prstDash val="solid"/>
          </a:ln>
        </p:spPr>
      </p:sp>
      <p:sp>
        <p:nvSpPr>
          <p:cNvPr id="33" name="text-346">
            <a:extLst xmlns:a="http://schemas.openxmlformats.org/drawingml/2006/main">
              <a:ext uri="{FF2B5EF4-FFF2-40B4-BE49-F238E27FC236}">
                <a16:creationId xmlns:a16="http://schemas.microsoft.com/office/drawing/2014/main" id="{07EFEBAA-0DF7-443D-B21E-A6A5C2EE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71700"/>
            <a:ext cx="156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企业级运营</a:t>
            </a:r>
          </a:p>
        </p:txBody>
      </p:sp>
      <p:sp>
        <p:nvSpPr>
          <p:cNvPr id="34" name="text-347">
            <a:extLst xmlns:a="http://schemas.openxmlformats.org/drawingml/2006/main">
              <a:ext uri="{FF2B5EF4-FFF2-40B4-BE49-F238E27FC236}">
                <a16:creationId xmlns:a16="http://schemas.microsoft.com/office/drawing/2014/main" id="{CA7D3C32-E2C5-4B22-85AE-E7DB3B6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562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 · SLO · 审计
模型治理 · 价值评估</a:t>
            </a:r>
          </a:p>
        </p:txBody>
      </p:sp>
      <p:sp>
        <p:nvSpPr>
          <p:cNvPr id="35" name="shape-349">
            <a:extLst xmlns:a="http://schemas.openxmlformats.org/drawingml/2006/main">
              <a:ext uri="{FF2B5EF4-FFF2-40B4-BE49-F238E27FC236}">
                <a16:creationId xmlns:a16="http://schemas.microsoft.com/office/drawing/2014/main" id="{E43796E4-D61E-44F1-8270-0C9E7E9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36" name="text-350">
            <a:extLst xmlns:a="http://schemas.openxmlformats.org/drawingml/2006/main">
              <a:ext uri="{FF2B5EF4-FFF2-40B4-BE49-F238E27FC236}">
                <a16:creationId xmlns:a16="http://schemas.microsoft.com/office/drawing/2014/main" id="{D2E78BA5-4378-4E1D-BFAE-0035725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P0 结束 / P1 开始 Gate</a:t>
            </a:r>
          </a:p>
        </p:txBody>
      </p:sp>
      <p:sp>
        <p:nvSpPr>
          <p:cNvPr id="37" name="text-351">
            <a:extLst xmlns:a="http://schemas.openxmlformats.org/drawingml/2006/main">
              <a:ext uri="{FF2B5EF4-FFF2-40B4-BE49-F238E27FC236}">
                <a16:creationId xmlns:a16="http://schemas.microsoft.com/office/drawing/2014/main" id="{F65499AD-235F-42EC-8DEE-09872F5D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0C2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只有以下证据齐备，才授权 P1 实现：</a:t>
            </a:r>
          </a:p>
        </p:txBody>
      </p:sp>
      <p:sp>
        <p:nvSpPr>
          <p:cNvPr id="38" name="text-352">
            <a:extLst xmlns:a="http://schemas.openxmlformats.org/drawingml/2006/main">
              <a:ext uri="{FF2B5EF4-FFF2-40B4-BE49-F238E27FC236}">
                <a16:creationId xmlns:a16="http://schemas.microsoft.com/office/drawing/2014/main" id="{424EC2E2-B824-4DAC-AABA-C59C69D6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3028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① 选定一个真实信审任务与责任人</a:t>
            </a:r>
          </a:p>
        </p:txBody>
      </p:sp>
      <p:sp>
        <p:nvSpPr>
          <p:cNvPr id="39" name="text-353">
            <a:extLst xmlns:a="http://schemas.openxmlformats.org/drawingml/2006/main">
              <a:ext uri="{FF2B5EF4-FFF2-40B4-BE49-F238E27FC236}">
                <a16:creationId xmlns:a16="http://schemas.microsoft.com/office/drawing/2014/main" id="{5F384D43-390E-45FF-95AE-CECECE0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3028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② 明确 Evidence、正式 Gate 与 Receipt</a:t>
            </a:r>
          </a:p>
        </p:txBody>
      </p:sp>
      <p:sp>
        <p:nvSpPr>
          <p:cNvPr id="40" name="text-354">
            <a:extLst xmlns:a="http://schemas.openxmlformats.org/drawingml/2006/main">
              <a:ext uri="{FF2B5EF4-FFF2-40B4-BE49-F238E27FC236}">
                <a16:creationId xmlns:a16="http://schemas.microsoft.com/office/drawing/2014/main" id="{D443E95C-7E29-4683-8707-5C3C177B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③ 确认现有系统 / 数据边界与不可做事项</a:t>
            </a:r>
          </a:p>
        </p:txBody>
      </p:sp>
      <p:sp>
        <p:nvSpPr>
          <p:cNvPr id="41" name="text-355">
            <a:extLst xmlns:a="http://schemas.openxmlformats.org/drawingml/2006/main">
              <a:ext uri="{FF2B5EF4-FFF2-40B4-BE49-F238E27FC236}">
                <a16:creationId xmlns:a16="http://schemas.microsoft.com/office/drawing/2014/main" id="{31F97AE2-A699-403A-BF19-C9E5485A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95850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④ 确认 P1 可观察验收问题与停止条件</a:t>
            </a:r>
          </a:p>
        </p:txBody>
      </p:sp>
      <p:sp>
        <p:nvSpPr>
          <p:cNvPr id="42" name="text-356">
            <a:extLst xmlns:a="http://schemas.openxmlformats.org/drawingml/2006/main">
              <a:ext uri="{FF2B5EF4-FFF2-40B4-BE49-F238E27FC236}">
                <a16:creationId xmlns:a16="http://schemas.microsoft.com/office/drawing/2014/main" id="{7B166835-E580-444A-9A79-5051617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分期顺序与 Gate 均为当前候选，需跨职能讨论确认</a:t>
            </a:r>
          </a:p>
        </p:txBody>
      </p:sp>
    </p:spTree>
    <p:extLst>
      <p:ext uri="{BB962C8B-B14F-4D97-AF65-F5344CB8AC3E}">
        <p14:creationId xmlns:p14="http://schemas.microsoft.com/office/powerpoint/2010/main" val="72348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57">
            <a:extLst xmlns:a="http://schemas.openxmlformats.org/drawingml/2006/main">
              <a:ext uri="{FF2B5EF4-FFF2-40B4-BE49-F238E27FC236}">
                <a16:creationId xmlns:a16="http://schemas.microsoft.com/office/drawing/2014/main" id="{7F6A2CB1-CDC4-43BB-B8D2-3D212BF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12｜ASSET DISPOSITION</a:t>
            </a:r>
          </a:p>
        </p:txBody>
      </p:sp>
      <p:sp>
        <p:nvSpPr>
          <p:cNvPr id="2" name="text-358">
            <a:extLst xmlns:a="http://schemas.openxmlformats.org/drawingml/2006/main">
              <a:ext uri="{FF2B5EF4-FFF2-40B4-BE49-F238E27FC236}">
                <a16:creationId xmlns:a16="http://schemas.microsoft.com/office/drawing/2014/main" id="{C8ADC3D7-114C-4F5C-B320-0EFA6664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已有积累不是作废，而是需要重新放回正确位置</a:t>
            </a:r>
          </a:p>
        </p:txBody>
      </p:sp>
      <p:sp>
        <p:nvSpPr>
          <p:cNvPr id="3" name="shape-359">
            <a:extLst xmlns:a="http://schemas.openxmlformats.org/drawingml/2006/main">
              <a:ext uri="{FF2B5EF4-FFF2-40B4-BE49-F238E27FC236}">
                <a16:creationId xmlns:a16="http://schemas.microsoft.com/office/drawing/2014/main" id="{4D833C9D-5BD1-4165-B668-9AFA3F5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360">
            <a:extLst xmlns:a="http://schemas.openxmlformats.org/drawingml/2006/main">
              <a:ext uri="{FF2B5EF4-FFF2-40B4-BE49-F238E27FC236}">
                <a16:creationId xmlns:a16="http://schemas.microsoft.com/office/drawing/2014/main" id="{B0C57613-616C-4CC3-B38E-D502AB6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361">
            <a:extLst xmlns:a="http://schemas.openxmlformats.org/drawingml/2006/main">
              <a:ext uri="{FF2B5EF4-FFF2-40B4-BE49-F238E27FC236}">
                <a16:creationId xmlns:a16="http://schemas.microsoft.com/office/drawing/2014/main" id="{76A5BD6A-F8C3-44E2-AD10-1C7E702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6" name="text-362">
            <a:extLst xmlns:a="http://schemas.openxmlformats.org/drawingml/2006/main">
              <a:ext uri="{FF2B5EF4-FFF2-40B4-BE49-F238E27FC236}">
                <a16:creationId xmlns:a16="http://schemas.microsoft.com/office/drawing/2014/main" id="{3B9FDB90-F167-46D0-A1CB-FD421E7B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保留并重新验收</a:t>
            </a:r>
          </a:p>
        </p:txBody>
      </p:sp>
      <p:sp>
        <p:nvSpPr>
          <p:cNvPr id="7" name="shape-363">
            <a:extLst xmlns:a="http://schemas.openxmlformats.org/drawingml/2006/main">
              <a:ext uri="{FF2B5EF4-FFF2-40B4-BE49-F238E27FC236}">
                <a16:creationId xmlns:a16="http://schemas.microsoft.com/office/drawing/2014/main" id="{050D49F4-D123-4B9B-9493-56B7B09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364"/>
          </a:solidFill>
          <a:ln xmlns:a="http://schemas.openxmlformats.org/drawingml/2006/main" w="0">
            <a:solidFill>
              <a:srgbClr val="587364"/>
            </a:solidFill>
            <a:prstDash val="solid"/>
          </a:ln>
        </p:spPr>
      </p:sp>
      <p:sp>
        <p:nvSpPr>
          <p:cNvPr id="8" name="text-364">
            <a:extLst xmlns:a="http://schemas.openxmlformats.org/drawingml/2006/main">
              <a:ext uri="{FF2B5EF4-FFF2-40B4-BE49-F238E27FC236}">
                <a16:creationId xmlns:a16="http://schemas.microsoft.com/office/drawing/2014/main" id="{6CA7BE70-1047-4F2E-9064-523D52C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Evidence
Context / Event
Human Gate / Receipt
幂等与失败关闭
SQLite authority kernel
Golden Case 与信审积累</a:t>
            </a:r>
          </a:p>
        </p:txBody>
      </p:sp>
      <p:sp>
        <p:nvSpPr>
          <p:cNvPr id="9" name="text-365">
            <a:extLst xmlns:a="http://schemas.openxmlformats.org/drawingml/2006/main">
              <a:ext uri="{FF2B5EF4-FFF2-40B4-BE49-F238E27FC236}">
                <a16:creationId xmlns:a16="http://schemas.microsoft.com/office/drawing/2014/main" id="{F3D8885E-394F-498D-8FE9-C505083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364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前提：在新 Case 与 authority 语义下重验</a:t>
            </a:r>
          </a:p>
        </p:txBody>
      </p:sp>
      <p:sp>
        <p:nvSpPr>
          <p:cNvPr id="10" name="text-366">
            <a:extLst xmlns:a="http://schemas.openxmlformats.org/drawingml/2006/main">
              <a:ext uri="{FF2B5EF4-FFF2-40B4-BE49-F238E27FC236}">
                <a16:creationId xmlns:a16="http://schemas.microsoft.com/office/drawing/2014/main" id="{3A0BBD9A-6F3D-4D32-99EC-4761489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重新评估 / 改造</a:t>
            </a:r>
          </a:p>
        </p:txBody>
      </p:sp>
      <p:sp>
        <p:nvSpPr>
          <p:cNvPr id="11" name="shape-367">
            <a:extLst xmlns:a="http://schemas.openxmlformats.org/drawingml/2006/main">
              <a:ext uri="{FF2B5EF4-FFF2-40B4-BE49-F238E27FC236}">
                <a16:creationId xmlns:a16="http://schemas.microsoft.com/office/drawing/2014/main" id="{0EE28E47-7428-4DD4-A383-F754F97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043"/>
          </a:solidFill>
          <a:ln xmlns:a="http://schemas.openxmlformats.org/drawingml/2006/main" w="0">
            <a:solidFill>
              <a:srgbClr val="A98043"/>
            </a:solidFill>
            <a:prstDash val="solid"/>
          </a:ln>
        </p:spPr>
      </p:sp>
      <p:sp>
        <p:nvSpPr>
          <p:cNvPr id="12" name="text-368">
            <a:extLst xmlns:a="http://schemas.openxmlformats.org/drawingml/2006/main">
              <a:ext uri="{FF2B5EF4-FFF2-40B4-BE49-F238E27FC236}">
                <a16:creationId xmlns:a16="http://schemas.microsoft.com/office/drawing/2014/main" id="{2A318A77-07E8-4EA9-94C8-99F7941C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2385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角色语义
Projection
消息 carrier
入口与 Case 解耦
组织与管理模型</a:t>
            </a:r>
          </a:p>
        </p:txBody>
      </p:sp>
      <p:sp>
        <p:nvSpPr>
          <p:cNvPr id="13" name="text-369">
            <a:extLst xmlns:a="http://schemas.openxmlformats.org/drawingml/2006/main">
              <a:ext uri="{FF2B5EF4-FFF2-40B4-BE49-F238E27FC236}">
                <a16:creationId xmlns:a16="http://schemas.microsoft.com/office/drawing/2014/main" id="{9B40206B-7004-4714-A615-322A981D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前提：先确认新产品本体，再决定技术形态</a:t>
            </a:r>
          </a:p>
        </p:txBody>
      </p:sp>
      <p:sp>
        <p:nvSpPr>
          <p:cNvPr id="14" name="text-370">
            <a:extLst xmlns:a="http://schemas.openxmlformats.org/drawingml/2006/main">
              <a:ext uri="{FF2B5EF4-FFF2-40B4-BE49-F238E27FC236}">
                <a16:creationId xmlns:a16="http://schemas.microsoft.com/office/drawing/2014/main" id="{ABECCBD2-1259-43BB-96D3-AAC8A6C0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历史隔离</a:t>
            </a:r>
          </a:p>
        </p:txBody>
      </p:sp>
      <p:sp>
        <p:nvSpPr>
          <p:cNvPr id="15" name="shape-371">
            <a:extLst xmlns:a="http://schemas.openxmlformats.org/drawingml/2006/main">
              <a:ext uri="{FF2B5EF4-FFF2-40B4-BE49-F238E27FC236}">
                <a16:creationId xmlns:a16="http://schemas.microsoft.com/office/drawing/2014/main" id="{DC1288C4-E803-4957-9985-795610B6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431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5E5A"/>
          </a:solidFill>
          <a:ln xmlns:a="http://schemas.openxmlformats.org/drawingml/2006/main" w="0">
            <a:solidFill>
              <a:srgbClr val="865E5A"/>
            </a:solidFill>
            <a:prstDash val="solid"/>
          </a:ln>
        </p:spPr>
      </p:sp>
      <p:sp>
        <p:nvSpPr>
          <p:cNvPr id="16" name="text-372">
            <a:extLst xmlns:a="http://schemas.openxmlformats.org/drawingml/2006/main">
              <a:ext uri="{FF2B5EF4-FFF2-40B4-BE49-F238E27FC236}">
                <a16:creationId xmlns:a16="http://schemas.microsoft.com/office/drawing/2014/main" id="{982FF349-1D20-4B62-AD03-9E2C20C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23850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V2 二十流程
旧 V3 frozen
九入口 root 候选
4+4+2 舞台主线
未确认的大型 God View</a:t>
            </a:r>
          </a:p>
        </p:txBody>
      </p:sp>
      <p:sp>
        <p:nvSpPr>
          <p:cNvPr id="17" name="text-373">
            <a:extLst xmlns:a="http://schemas.openxmlformats.org/drawingml/2006/main">
              <a:ext uri="{FF2B5EF4-FFF2-40B4-BE49-F238E27FC236}">
                <a16:creationId xmlns:a16="http://schemas.microsoft.com/office/drawing/2014/main" id="{901FF349-D1FA-4133-BD5C-15AD112B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65E5A"/>
                </a:solidFill>
                <a:latin typeface="Microsoft YaHei"/>
                <a:ea typeface="Microsoft YaHei"/>
                <a:cs typeface="Microsoft YaHei"/>
              </a:defRPr>
            </a:pPr>
            <a:r>
              <a:t>用途：理解历史，不进入当前主叙事</a:t>
            </a:r>
          </a:p>
        </p:txBody>
      </p:sp>
      <p:sp>
        <p:nvSpPr>
          <p:cNvPr id="18" name="shape-374">
            <a:extLst xmlns:a="http://schemas.openxmlformats.org/drawingml/2006/main">
              <a:ext uri="{FF2B5EF4-FFF2-40B4-BE49-F238E27FC236}">
                <a16:creationId xmlns:a16="http://schemas.microsoft.com/office/drawing/2014/main" id="{D3EE1F4C-C79E-426F-A387-8AA6E489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10250"/>
            <a:ext cx="6896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8E5"/>
          </a:solidFill>
          <a:ln xmlns:a="http://schemas.openxmlformats.org/drawingml/2006/main" w="9525">
            <a:solidFill>
              <a:srgbClr val="E7E8E5"/>
            </a:solidFill>
            <a:prstDash val="solid"/>
          </a:ln>
        </p:spPr>
      </p:sp>
      <p:sp>
        <p:nvSpPr>
          <p:cNvPr id="19" name="text-375">
            <a:extLst xmlns:a="http://schemas.openxmlformats.org/drawingml/2006/main">
              <a:ext uri="{FF2B5EF4-FFF2-40B4-BE49-F238E27FC236}">
                <a16:creationId xmlns:a16="http://schemas.microsoft.com/office/drawing/2014/main" id="{E03EDB0C-B69A-483C-879B-D5E739E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8645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D6870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当前没有完成代码审计，因此不提供任何复用比例</a:t>
            </a:r>
          </a:p>
        </p:txBody>
      </p:sp>
    </p:spTree>
    <p:extLst>
      <p:ext uri="{BB962C8B-B14F-4D97-AF65-F5344CB8AC3E}">
        <p14:creationId xmlns:p14="http://schemas.microsoft.com/office/powerpoint/2010/main" val="440521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76">
            <a:extLst xmlns:a="http://schemas.openxmlformats.org/drawingml/2006/main">
              <a:ext uri="{FF2B5EF4-FFF2-40B4-BE49-F238E27FC236}">
                <a16:creationId xmlns:a16="http://schemas.microsoft.com/office/drawing/2014/main" id="{DA87D2F3-3DD0-470F-AF34-1308155A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13｜TOMORROW'S DISCUSSION</a:t>
            </a:r>
          </a:p>
        </p:txBody>
      </p:sp>
      <p:sp>
        <p:nvSpPr>
          <p:cNvPr id="2" name="text-377">
            <a:extLst xmlns:a="http://schemas.openxmlformats.org/drawingml/2006/main">
              <a:ext uri="{FF2B5EF4-FFF2-40B4-BE49-F238E27FC236}">
                <a16:creationId xmlns:a16="http://schemas.microsoft.com/office/drawing/2014/main" id="{3F95C955-7977-4F1E-BD14-2CFC728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明天不冻结全部答案，只形成足以启动 P0 的共识</a:t>
            </a:r>
          </a:p>
        </p:txBody>
      </p:sp>
      <p:sp>
        <p:nvSpPr>
          <p:cNvPr id="3" name="shape-378">
            <a:extLst xmlns:a="http://schemas.openxmlformats.org/drawingml/2006/main">
              <a:ext uri="{FF2B5EF4-FFF2-40B4-BE49-F238E27FC236}">
                <a16:creationId xmlns:a16="http://schemas.microsoft.com/office/drawing/2014/main" id="{8C77895C-E47E-4E06-90C7-96CA9393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4" name="text-379">
            <a:extLst xmlns:a="http://schemas.openxmlformats.org/drawingml/2006/main">
              <a:ext uri="{FF2B5EF4-FFF2-40B4-BE49-F238E27FC236}">
                <a16:creationId xmlns:a16="http://schemas.microsoft.com/office/drawing/2014/main" id="{12342EBC-A406-41F6-B822-E7638B66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见微宏观体系与分期工程｜内部讨论稿</a:t>
            </a:r>
          </a:p>
        </p:txBody>
      </p:sp>
      <p:sp>
        <p:nvSpPr>
          <p:cNvPr id="5" name="text-380">
            <a:extLst xmlns:a="http://schemas.openxmlformats.org/drawingml/2006/main">
              <a:ext uri="{FF2B5EF4-FFF2-40B4-BE49-F238E27FC236}">
                <a16:creationId xmlns:a16="http://schemas.microsoft.com/office/drawing/2014/main" id="{5CED4BAE-2961-4C90-A7FE-324C87E5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9939A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6" name="text-381">
            <a:extLst xmlns:a="http://schemas.openxmlformats.org/drawingml/2006/main">
              <a:ext uri="{FF2B5EF4-FFF2-40B4-BE49-F238E27FC236}">
                <a16:creationId xmlns:a16="http://schemas.microsoft.com/office/drawing/2014/main" id="{476BBEEA-06F5-4679-9D8B-C3652564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367"/>
                </a:solidFill>
                <a:latin typeface="Microsoft YaHei"/>
                <a:ea typeface="Microsoft YaHei"/>
                <a:cs typeface="Microsoft YaHei"/>
              </a:defRPr>
            </a:pPr>
            <a:r>
              <a:t>希望形成的共同认识</a:t>
            </a:r>
          </a:p>
        </p:txBody>
      </p:sp>
      <p:sp>
        <p:nvSpPr>
          <p:cNvPr id="7" name="text-382">
            <a:extLst xmlns:a="http://schemas.openxmlformats.org/drawingml/2006/main">
              <a:ext uri="{FF2B5EF4-FFF2-40B4-BE49-F238E27FC236}">
                <a16:creationId xmlns:a16="http://schemas.microsoft.com/office/drawing/2014/main" id="{21D71CB7-A6FD-4A0E-B497-153E624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383">
            <a:extLst xmlns:a="http://schemas.openxmlformats.org/drawingml/2006/main">
              <a:ext uri="{FF2B5EF4-FFF2-40B4-BE49-F238E27FC236}">
                <a16:creationId xmlns:a16="http://schemas.microsoft.com/office/drawing/2014/main" id="{CCFEEE1F-7F3F-4F6C-A729-6842BE9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见微的本体是 Case 中心的人机协同运行体系</a:t>
            </a:r>
          </a:p>
        </p:txBody>
      </p:sp>
      <p:sp>
        <p:nvSpPr>
          <p:cNvPr id="9" name="text-384">
            <a:extLst xmlns:a="http://schemas.openxmlformats.org/drawingml/2006/main">
              <a:ext uri="{FF2B5EF4-FFF2-40B4-BE49-F238E27FC236}">
                <a16:creationId xmlns:a16="http://schemas.microsoft.com/office/drawing/2014/main" id="{931AEA0A-8D3E-430A-AFE0-65ADBC1E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text-385">
            <a:extLst xmlns:a="http://schemas.openxmlformats.org/drawingml/2006/main">
              <a:ext uri="{FF2B5EF4-FFF2-40B4-BE49-F238E27FC236}">
                <a16:creationId xmlns:a16="http://schemas.microsoft.com/office/drawing/2014/main" id="{F7F927C3-64AA-4DAC-8617-0244B7C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作业、管理、演进是三个不同但相连的循环</a:t>
            </a:r>
          </a:p>
        </p:txBody>
      </p:sp>
      <p:sp>
        <p:nvSpPr>
          <p:cNvPr id="11" name="text-386">
            <a:extLst xmlns:a="http://schemas.openxmlformats.org/drawingml/2006/main">
              <a:ext uri="{FF2B5EF4-FFF2-40B4-BE49-F238E27FC236}">
                <a16:creationId xmlns:a16="http://schemas.microsoft.com/office/drawing/2014/main" id="{11255F91-5F75-4A4F-9495-7E09673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text-387">
            <a:extLst xmlns:a="http://schemas.openxmlformats.org/drawingml/2006/main">
              <a:ext uri="{FF2B5EF4-FFF2-40B4-BE49-F238E27FC236}">
                <a16:creationId xmlns:a16="http://schemas.microsoft.com/office/drawing/2014/main" id="{46E7BE82-D7E2-41CD-B090-32AA3B1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系统部门与智能部门必须共同进入建设机制</a:t>
            </a:r>
          </a:p>
        </p:txBody>
      </p:sp>
      <p:sp>
        <p:nvSpPr>
          <p:cNvPr id="13" name="text-388">
            <a:extLst xmlns:a="http://schemas.openxmlformats.org/drawingml/2006/main">
              <a:ext uri="{FF2B5EF4-FFF2-40B4-BE49-F238E27FC236}">
                <a16:creationId xmlns:a16="http://schemas.microsoft.com/office/drawing/2014/main" id="{BB35511D-0F79-4CD0-AB63-F6289A3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text-389">
            <a:extLst xmlns:a="http://schemas.openxmlformats.org/drawingml/2006/main">
              <a:ext uri="{FF2B5EF4-FFF2-40B4-BE49-F238E27FC236}">
                <a16:creationId xmlns:a16="http://schemas.microsoft.com/office/drawing/2014/main" id="{DDF24E9C-789D-4670-BC5D-2CF386E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先用信审活细胞学习，再逐层增加复杂度</a:t>
            </a:r>
          </a:p>
        </p:txBody>
      </p:sp>
      <p:sp>
        <p:nvSpPr>
          <p:cNvPr id="15" name="shape-390">
            <a:extLst xmlns:a="http://schemas.openxmlformats.org/drawingml/2006/main">
              <a:ext uri="{FF2B5EF4-FFF2-40B4-BE49-F238E27FC236}">
                <a16:creationId xmlns:a16="http://schemas.microsoft.com/office/drawing/2014/main" id="{C028571A-041F-49C6-9CBA-984AC032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190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5"/>
          </a:solidFill>
          <a:ln xmlns:a="http://schemas.openxmlformats.org/drawingml/2006/main" w="0">
            <a:solidFill>
              <a:srgbClr val="CDD3D5"/>
            </a:solidFill>
            <a:prstDash val="solid"/>
          </a:ln>
        </p:spPr>
      </p:sp>
      <p:sp>
        <p:nvSpPr>
          <p:cNvPr id="16" name="text-391">
            <a:extLst xmlns:a="http://schemas.openxmlformats.org/drawingml/2006/main">
              <a:ext uri="{FF2B5EF4-FFF2-40B4-BE49-F238E27FC236}">
                <a16:creationId xmlns:a16="http://schemas.microsoft.com/office/drawing/2014/main" id="{66DC68C7-8B1B-40EA-A74A-5EB2BBF0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需要同事共同判断</a:t>
            </a:r>
          </a:p>
        </p:txBody>
      </p:sp>
      <p:sp>
        <p:nvSpPr>
          <p:cNvPr id="17" name="shape-392">
            <a:extLst xmlns:a="http://schemas.openxmlformats.org/drawingml/2006/main">
              <a:ext uri="{FF2B5EF4-FFF2-40B4-BE49-F238E27FC236}">
                <a16:creationId xmlns:a16="http://schemas.microsoft.com/office/drawing/2014/main" id="{8A80612C-9886-4471-A610-D410735C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18" name="text-393">
            <a:extLst xmlns:a="http://schemas.openxmlformats.org/drawingml/2006/main">
              <a:ext uri="{FF2B5EF4-FFF2-40B4-BE49-F238E27FC236}">
                <a16:creationId xmlns:a16="http://schemas.microsoft.com/office/drawing/2014/main" id="{A3E49A4D-7265-46BE-96A1-4977C3B8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9" name="text-394">
            <a:extLst xmlns:a="http://schemas.openxmlformats.org/drawingml/2006/main">
              <a:ext uri="{FF2B5EF4-FFF2-40B4-BE49-F238E27FC236}">
                <a16:creationId xmlns:a16="http://schemas.microsoft.com/office/drawing/2014/main" id="{E4446FE0-B20C-4255-86EC-D25FD795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400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哪个信审任务最适合作为 P1 活细胞？</a:t>
            </a:r>
          </a:p>
        </p:txBody>
      </p:sp>
      <p:sp>
        <p:nvSpPr>
          <p:cNvPr id="20" name="shape-395">
            <a:extLst xmlns:a="http://schemas.openxmlformats.org/drawingml/2006/main">
              <a:ext uri="{FF2B5EF4-FFF2-40B4-BE49-F238E27FC236}">
                <a16:creationId xmlns:a16="http://schemas.microsoft.com/office/drawing/2014/main" id="{5EDF7662-576B-4919-887E-504FD082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1" name="text-396">
            <a:extLst xmlns:a="http://schemas.openxmlformats.org/drawingml/2006/main">
              <a:ext uri="{FF2B5EF4-FFF2-40B4-BE49-F238E27FC236}">
                <a16:creationId xmlns:a16="http://schemas.microsoft.com/office/drawing/2014/main" id="{F30CAD69-7750-4CA0-995E-4A21D356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37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22" name="text-397">
            <a:extLst xmlns:a="http://schemas.openxmlformats.org/drawingml/2006/main">
              <a:ext uri="{FF2B5EF4-FFF2-40B4-BE49-F238E27FC236}">
                <a16:creationId xmlns:a16="http://schemas.microsoft.com/office/drawing/2014/main" id="{29A9F625-32FD-427E-A00B-EF492BB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它依赖哪些 Evidence、正式 Gate、责任人与现有系统？</a:t>
            </a:r>
          </a:p>
        </p:txBody>
      </p:sp>
      <p:sp>
        <p:nvSpPr>
          <p:cNvPr id="23" name="shape-398">
            <a:extLst xmlns:a="http://schemas.openxmlformats.org/drawingml/2006/main">
              <a:ext uri="{FF2B5EF4-FFF2-40B4-BE49-F238E27FC236}">
                <a16:creationId xmlns:a16="http://schemas.microsoft.com/office/drawing/2014/main" id="{02F974FF-F7CF-42BC-AE91-F149840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DD3D5"/>
            </a:solidFill>
            <a:prstDash val="solid"/>
          </a:ln>
        </p:spPr>
      </p:sp>
      <p:sp>
        <p:nvSpPr>
          <p:cNvPr id="24" name="text-399">
            <a:extLst xmlns:a="http://schemas.openxmlformats.org/drawingml/2006/main">
              <a:ext uri="{FF2B5EF4-FFF2-40B4-BE49-F238E27FC236}">
                <a16:creationId xmlns:a16="http://schemas.microsoft.com/office/drawing/2014/main" id="{AE07D87B-ECAC-4190-9CCE-78761B6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7185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5" name="text-400">
            <a:extLst xmlns:a="http://schemas.openxmlformats.org/drawingml/2006/main">
              <a:ext uri="{FF2B5EF4-FFF2-40B4-BE49-F238E27FC236}">
                <a16:creationId xmlns:a16="http://schemas.microsoft.com/office/drawing/2014/main" id="{F624B951-8701-4C31-9A23-4BCB51B4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领域、系统、智能三方由谁参加 P0 调研与验收？</a:t>
            </a:r>
          </a:p>
        </p:txBody>
      </p:sp>
      <p:sp>
        <p:nvSpPr>
          <p:cNvPr id="26" name="shape-401">
            <a:extLst xmlns:a="http://schemas.openxmlformats.org/drawingml/2006/main">
              <a:ext uri="{FF2B5EF4-FFF2-40B4-BE49-F238E27FC236}">
                <a16:creationId xmlns:a16="http://schemas.microsoft.com/office/drawing/2014/main" id="{184F1A34-F613-4549-BC81-747018C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3D1"/>
          </a:solidFill>
          <a:ln xmlns:a="http://schemas.openxmlformats.org/drawingml/2006/main" w="9525">
            <a:solidFill>
              <a:srgbClr val="A98043"/>
            </a:solidFill>
            <a:prstDash val="solid"/>
          </a:ln>
        </p:spPr>
      </p:sp>
      <p:sp>
        <p:nvSpPr>
          <p:cNvPr id="27" name="text-402">
            <a:extLst xmlns:a="http://schemas.openxmlformats.org/drawingml/2006/main">
              <a:ext uri="{FF2B5EF4-FFF2-40B4-BE49-F238E27FC236}">
                <a16:creationId xmlns:a16="http://schemas.microsoft.com/office/drawing/2014/main" id="{FD2CB825-FEB7-498C-9039-A019689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8225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8043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8" name="text-403">
            <a:extLst xmlns:a="http://schemas.openxmlformats.org/drawingml/2006/main">
              <a:ext uri="{FF2B5EF4-FFF2-40B4-BE49-F238E27FC236}">
                <a16:creationId xmlns:a16="http://schemas.microsoft.com/office/drawing/2014/main" id="{ABFCB37C-DBA5-4CB6-BFE7-F975CE9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96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2C"/>
                </a:solidFill>
                <a:latin typeface="Microsoft YaHei"/>
                <a:ea typeface="Microsoft YaHei"/>
                <a:cs typeface="Microsoft YaHei"/>
              </a:defRPr>
            </a:pPr>
            <a:r>
              <a:t>哪些证据足以证明 P0 结束，可以授权 P1？</a:t>
            </a:r>
          </a:p>
        </p:txBody>
      </p:sp>
      <p:sp>
        <p:nvSpPr>
          <p:cNvPr id="29" name="shape-404">
            <a:extLst xmlns:a="http://schemas.openxmlformats.org/drawingml/2006/main">
              <a:ext uri="{FF2B5EF4-FFF2-40B4-BE49-F238E27FC236}">
                <a16:creationId xmlns:a16="http://schemas.microsoft.com/office/drawing/2014/main" id="{426444B5-D38B-4AC4-BA3F-9A75817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30" name="text-405">
            <a:extLst xmlns:a="http://schemas.openxmlformats.org/drawingml/2006/main">
              <a:ext uri="{FF2B5EF4-FFF2-40B4-BE49-F238E27FC236}">
                <a16:creationId xmlns:a16="http://schemas.microsoft.com/office/drawing/2014/main" id="{40DE5514-368D-4851-9F8A-9432810B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150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下一步：形成 P0 研究清单、责任人、时间盒与 Gate</a:t>
            </a:r>
          </a:p>
        </p:txBody>
      </p:sp>
    </p:spTree>
    <p:extLst>
      <p:ext uri="{BB962C8B-B14F-4D97-AF65-F5344CB8AC3E}">
        <p14:creationId xmlns:p14="http://schemas.microsoft.com/office/powerpoint/2010/main" val="1549907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2026-08-30T18:10:01.9750000Z</dcterms:created>
  <dcterms:modified xsi:type="dcterms:W3CDTF">2026-08-30T18:10:01.9750000Z</dcterms:modified>
</coreProperties>
</file>